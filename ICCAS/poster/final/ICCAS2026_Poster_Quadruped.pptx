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</p:sldIdLst>
  <p:sldSz cx="30275213" cy="424799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12" y="-81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641" y="6952156"/>
            <a:ext cx="25733931" cy="14789303"/>
          </a:xfrm>
        </p:spPr>
        <p:txBody>
          <a:bodyPr anchor="b"/>
          <a:lstStyle>
            <a:lvl1pPr algn="ctr">
              <a:defRPr sz="19865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4402" y="22311791"/>
            <a:ext cx="22706410" cy="10256143"/>
          </a:xfrm>
        </p:spPr>
        <p:txBody>
          <a:bodyPr/>
          <a:lstStyle>
            <a:lvl1pPr marL="0" indent="0" algn="ctr">
              <a:buNone/>
              <a:defRPr sz="7946"/>
            </a:lvl1pPr>
            <a:lvl2pPr marL="1513743" indent="0" algn="ctr">
              <a:buNone/>
              <a:defRPr sz="6622"/>
            </a:lvl2pPr>
            <a:lvl3pPr marL="3027487" indent="0" algn="ctr">
              <a:buNone/>
              <a:defRPr sz="5960"/>
            </a:lvl3pPr>
            <a:lvl4pPr marL="4541230" indent="0" algn="ctr">
              <a:buNone/>
              <a:defRPr sz="5297"/>
            </a:lvl4pPr>
            <a:lvl5pPr marL="6054974" indent="0" algn="ctr">
              <a:buNone/>
              <a:defRPr sz="5297"/>
            </a:lvl5pPr>
            <a:lvl6pPr marL="7568717" indent="0" algn="ctr">
              <a:buNone/>
              <a:defRPr sz="5297"/>
            </a:lvl6pPr>
            <a:lvl7pPr marL="9082461" indent="0" algn="ctr">
              <a:buNone/>
              <a:defRPr sz="5297"/>
            </a:lvl7pPr>
            <a:lvl8pPr marL="10596204" indent="0" algn="ctr">
              <a:buNone/>
              <a:defRPr sz="5297"/>
            </a:lvl8pPr>
            <a:lvl9pPr marL="12109948" indent="0" algn="ctr">
              <a:buNone/>
              <a:defRPr sz="5297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96405-FC94-4A51-AF54-A6A424E5C0BA}" type="datetimeFigureOut">
              <a:rPr lang="ko-KR" altLang="en-US" smtClean="0"/>
              <a:t>2026-10-25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5EEE9-99B2-42EF-B93B-C2ADC317DD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5847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96405-FC94-4A51-AF54-A6A424E5C0BA}" type="datetimeFigureOut">
              <a:rPr lang="ko-KR" altLang="en-US" smtClean="0"/>
              <a:t>2026-10-25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5EEE9-99B2-42EF-B93B-C2ADC317DD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2133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654" y="10590491"/>
            <a:ext cx="26112371" cy="17670461"/>
          </a:xfrm>
        </p:spPr>
        <p:txBody>
          <a:bodyPr anchor="b"/>
          <a:lstStyle>
            <a:lvl1pPr>
              <a:defRPr sz="19865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654" y="28428121"/>
            <a:ext cx="26112371" cy="9292478"/>
          </a:xfrm>
        </p:spPr>
        <p:txBody>
          <a:bodyPr/>
          <a:lstStyle>
            <a:lvl1pPr marL="0" indent="0">
              <a:buNone/>
              <a:defRPr sz="7946">
                <a:solidFill>
                  <a:schemeClr val="tx1"/>
                </a:solidFill>
              </a:defRPr>
            </a:lvl1pPr>
            <a:lvl2pPr marL="1513743" indent="0">
              <a:buNone/>
              <a:defRPr sz="6622">
                <a:solidFill>
                  <a:schemeClr val="tx1">
                    <a:tint val="75000"/>
                  </a:schemeClr>
                </a:solidFill>
              </a:defRPr>
            </a:lvl2pPr>
            <a:lvl3pPr marL="3027487" indent="0">
              <a:buNone/>
              <a:defRPr sz="5960">
                <a:solidFill>
                  <a:schemeClr val="tx1">
                    <a:tint val="75000"/>
                  </a:schemeClr>
                </a:solidFill>
              </a:defRPr>
            </a:lvl3pPr>
            <a:lvl4pPr marL="4541230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4pPr>
            <a:lvl5pPr marL="6054974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5pPr>
            <a:lvl6pPr marL="7568717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6pPr>
            <a:lvl7pPr marL="9082461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7pPr>
            <a:lvl8pPr marL="10596204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8pPr>
            <a:lvl9pPr marL="12109948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96405-FC94-4A51-AF54-A6A424E5C0BA}" type="datetimeFigureOut">
              <a:rPr lang="ko-KR" altLang="en-US" smtClean="0"/>
              <a:t>2026-10-25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5EEE9-99B2-42EF-B93B-C2ADC317DD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9735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1421" y="11308310"/>
            <a:ext cx="12866966" cy="2695311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6826" y="11308310"/>
            <a:ext cx="12866966" cy="2695311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96405-FC94-4A51-AF54-A6A424E5C0BA}" type="datetimeFigureOut">
              <a:rPr lang="ko-KR" altLang="en-US" smtClean="0"/>
              <a:t>2026-10-25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5EEE9-99B2-42EF-B93B-C2ADC317DD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2193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261671"/>
            <a:ext cx="26112371" cy="821082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5368" y="10413482"/>
            <a:ext cx="12807832" cy="5103486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5368" y="15516968"/>
            <a:ext cx="12807832" cy="2282312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6828" y="10413482"/>
            <a:ext cx="12870909" cy="5103486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6828" y="15516968"/>
            <a:ext cx="12870909" cy="2282312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96405-FC94-4A51-AF54-A6A424E5C0BA}" type="datetimeFigureOut">
              <a:rPr lang="ko-KR" altLang="en-US" smtClean="0"/>
              <a:t>2026-10-25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5EEE9-99B2-42EF-B93B-C2ADC317DD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72271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96405-FC94-4A51-AF54-A6A424E5C0BA}" type="datetimeFigureOut">
              <a:rPr lang="ko-KR" altLang="en-US" smtClean="0"/>
              <a:t>2026-10-25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5EEE9-99B2-42EF-B93B-C2ADC317DD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392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96405-FC94-4A51-AF54-A6A424E5C0BA}" type="datetimeFigureOut">
              <a:rPr lang="ko-KR" altLang="en-US" smtClean="0"/>
              <a:t>2026-10-25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5EEE9-99B2-42EF-B93B-C2ADC317DD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88471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31994"/>
            <a:ext cx="9764544" cy="9911980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909" y="6116330"/>
            <a:ext cx="15326827" cy="30188272"/>
          </a:xfrm>
        </p:spPr>
        <p:txBody>
          <a:bodyPr/>
          <a:lstStyle>
            <a:lvl1pPr>
              <a:defRPr sz="10595"/>
            </a:lvl1pPr>
            <a:lvl2pPr>
              <a:defRPr sz="9271"/>
            </a:lvl2pPr>
            <a:lvl3pPr>
              <a:defRPr sz="7946"/>
            </a:lvl3pPr>
            <a:lvl4pPr>
              <a:defRPr sz="6622"/>
            </a:lvl4pPr>
            <a:lvl5pPr>
              <a:defRPr sz="6622"/>
            </a:lvl5pPr>
            <a:lvl6pPr>
              <a:defRPr sz="6622"/>
            </a:lvl6pPr>
            <a:lvl7pPr>
              <a:defRPr sz="6622"/>
            </a:lvl7pPr>
            <a:lvl8pPr>
              <a:defRPr sz="6622"/>
            </a:lvl8pPr>
            <a:lvl9pPr>
              <a:defRPr sz="6622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743974"/>
            <a:ext cx="9764544" cy="23609788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96405-FC94-4A51-AF54-A6A424E5C0BA}" type="datetimeFigureOut">
              <a:rPr lang="ko-KR" altLang="en-US" smtClean="0"/>
              <a:t>2026-10-25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5EEE9-99B2-42EF-B93B-C2ADC317DD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1411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31994"/>
            <a:ext cx="9764544" cy="9911980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70909" y="6116330"/>
            <a:ext cx="15326827" cy="30188272"/>
          </a:xfrm>
        </p:spPr>
        <p:txBody>
          <a:bodyPr anchor="t"/>
          <a:lstStyle>
            <a:lvl1pPr marL="0" indent="0">
              <a:buNone/>
              <a:defRPr sz="10595"/>
            </a:lvl1pPr>
            <a:lvl2pPr marL="1513743" indent="0">
              <a:buNone/>
              <a:defRPr sz="9271"/>
            </a:lvl2pPr>
            <a:lvl3pPr marL="3027487" indent="0">
              <a:buNone/>
              <a:defRPr sz="7946"/>
            </a:lvl3pPr>
            <a:lvl4pPr marL="4541230" indent="0">
              <a:buNone/>
              <a:defRPr sz="6622"/>
            </a:lvl4pPr>
            <a:lvl5pPr marL="6054974" indent="0">
              <a:buNone/>
              <a:defRPr sz="6622"/>
            </a:lvl5pPr>
            <a:lvl6pPr marL="7568717" indent="0">
              <a:buNone/>
              <a:defRPr sz="6622"/>
            </a:lvl6pPr>
            <a:lvl7pPr marL="9082461" indent="0">
              <a:buNone/>
              <a:defRPr sz="6622"/>
            </a:lvl7pPr>
            <a:lvl8pPr marL="10596204" indent="0">
              <a:buNone/>
              <a:defRPr sz="6622"/>
            </a:lvl8pPr>
            <a:lvl9pPr marL="12109948" indent="0">
              <a:buNone/>
              <a:defRPr sz="6622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743974"/>
            <a:ext cx="9764544" cy="23609788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96405-FC94-4A51-AF54-A6A424E5C0BA}" type="datetimeFigureOut">
              <a:rPr lang="ko-KR" altLang="en-US" smtClean="0"/>
              <a:t>2026-10-25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5EEE9-99B2-42EF-B93B-C2ADC317DD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28447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96405-FC94-4A51-AF54-A6A424E5C0BA}" type="datetimeFigureOut">
              <a:rPr lang="ko-KR" altLang="en-US" smtClean="0"/>
              <a:t>2026-10-25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5EEE9-99B2-42EF-B93B-C2ADC317DD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18435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5701" y="2261662"/>
            <a:ext cx="6528093" cy="3599976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1423" y="2261662"/>
            <a:ext cx="19205838" cy="3599976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96405-FC94-4A51-AF54-A6A424E5C0BA}" type="datetimeFigureOut">
              <a:rPr lang="ko-KR" altLang="en-US" smtClean="0"/>
              <a:t>2026-10-25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5EEE9-99B2-42EF-B93B-C2ADC317DD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939069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1421" y="2261671"/>
            <a:ext cx="26112371" cy="82108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421" y="11308310"/>
            <a:ext cx="26112371" cy="26953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1421" y="39372595"/>
            <a:ext cx="6811923" cy="22616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E96405-FC94-4A51-AF54-A6A424E5C0BA}" type="datetimeFigureOut">
              <a:rPr lang="ko-KR" altLang="en-US" smtClean="0"/>
              <a:t>2026-10-25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8665" y="39372595"/>
            <a:ext cx="10217884" cy="22616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81869" y="39372595"/>
            <a:ext cx="6811923" cy="22616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C5EEE9-99B2-42EF-B93B-C2ADC317DD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5087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3027487" rtl="0" eaLnBrk="1" latinLnBrk="1" hangingPunct="1">
        <a:lnSpc>
          <a:spcPct val="90000"/>
        </a:lnSpc>
        <a:spcBef>
          <a:spcPct val="0"/>
        </a:spcBef>
        <a:buNone/>
        <a:defRPr sz="145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6872" indent="-756872" algn="l" defTabSz="3027487" rtl="0" eaLnBrk="1" latinLnBrk="1" hangingPunct="1">
        <a:lnSpc>
          <a:spcPct val="90000"/>
        </a:lnSpc>
        <a:spcBef>
          <a:spcPts val="3311"/>
        </a:spcBef>
        <a:buFont typeface="Arial" panose="020B0604020202020204" pitchFamily="34" charset="0"/>
        <a:buChar char="•"/>
        <a:defRPr sz="9271" kern="1200">
          <a:solidFill>
            <a:schemeClr val="tx1"/>
          </a:solidFill>
          <a:latin typeface="+mn-lt"/>
          <a:ea typeface="+mn-ea"/>
          <a:cs typeface="+mn-cs"/>
        </a:defRPr>
      </a:lvl1pPr>
      <a:lvl2pPr marL="2270615" indent="-756872" algn="l" defTabSz="3027487" rtl="0" eaLnBrk="1" latinLnBrk="1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7946" kern="1200">
          <a:solidFill>
            <a:schemeClr val="tx1"/>
          </a:solidFill>
          <a:latin typeface="+mn-lt"/>
          <a:ea typeface="+mn-ea"/>
          <a:cs typeface="+mn-cs"/>
        </a:defRPr>
      </a:lvl2pPr>
      <a:lvl3pPr marL="3784359" indent="-756872" algn="l" defTabSz="3027487" rtl="0" eaLnBrk="1" latinLnBrk="1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6622" kern="1200">
          <a:solidFill>
            <a:schemeClr val="tx1"/>
          </a:solidFill>
          <a:latin typeface="+mn-lt"/>
          <a:ea typeface="+mn-ea"/>
          <a:cs typeface="+mn-cs"/>
        </a:defRPr>
      </a:lvl3pPr>
      <a:lvl4pPr marL="5298102" indent="-756872" algn="l" defTabSz="3027487" rtl="0" eaLnBrk="1" latinLnBrk="1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811846" indent="-756872" algn="l" defTabSz="3027487" rtl="0" eaLnBrk="1" latinLnBrk="1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8325589" indent="-756872" algn="l" defTabSz="3027487" rtl="0" eaLnBrk="1" latinLnBrk="1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839333" indent="-756872" algn="l" defTabSz="3027487" rtl="0" eaLnBrk="1" latinLnBrk="1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1353076" indent="-756872" algn="l" defTabSz="3027487" rtl="0" eaLnBrk="1" latinLnBrk="1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866820" indent="-756872" algn="l" defTabSz="3027487" rtl="0" eaLnBrk="1" latinLnBrk="1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7487" rtl="0" eaLnBrk="1" latinLnBrk="1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1pPr>
      <a:lvl2pPr marL="1513743" algn="l" defTabSz="3027487" rtl="0" eaLnBrk="1" latinLnBrk="1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2pPr>
      <a:lvl3pPr marL="3027487" algn="l" defTabSz="3027487" rtl="0" eaLnBrk="1" latinLnBrk="1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3pPr>
      <a:lvl4pPr marL="4541230" algn="l" defTabSz="3027487" rtl="0" eaLnBrk="1" latinLnBrk="1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054974" algn="l" defTabSz="3027487" rtl="0" eaLnBrk="1" latinLnBrk="1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7568717" algn="l" defTabSz="3027487" rtl="0" eaLnBrk="1" latinLnBrk="1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082461" algn="l" defTabSz="3027487" rtl="0" eaLnBrk="1" latinLnBrk="1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0596204" algn="l" defTabSz="3027487" rtl="0" eaLnBrk="1" latinLnBrk="1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109948" algn="l" defTabSz="3027487" rtl="0" eaLnBrk="1" latinLnBrk="1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jp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/>
          <p:cNvSpPr/>
          <p:nvPr/>
        </p:nvSpPr>
        <p:spPr>
          <a:xfrm>
            <a:off x="720000" y="4716000"/>
            <a:ext cx="28835999" cy="11340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31750">
            <a:solidFill>
              <a:srgbClr val="0B254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 Same Side Corner Rectangle 10"/>
          <p:cNvSpPr/>
          <p:nvPr/>
        </p:nvSpPr>
        <p:spPr>
          <a:xfrm>
            <a:off x="720000" y="4716000"/>
            <a:ext cx="28835999" cy="720000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0B2545"/>
          </a:solidFill>
          <a:ln>
            <a:noFill/>
          </a:ln>
        </p:spPr>
        <p:txBody>
          <a:bodyPr wrap="none" lIns="288000" tIns="0" rIns="288000" bIns="0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Sim-to-Real Quadrupedal Visual Navigation Architecture</a:t>
            </a:r>
          </a:p>
        </p:txBody>
      </p:sp>
      <p:pic>
        <p:nvPicPr>
          <p:cNvPr id="12" name="Picture 11" descr="system_overview_t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7999" y="5706000"/>
            <a:ext cx="26820000" cy="962774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36000" y="15444000"/>
            <a:ext cx="28403999" cy="37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475569"/>
                </a:solidFill>
                <a:latin typeface="Arial"/>
                <a:ea typeface="Arial"/>
                <a:cs typeface="Arial"/>
              </a:rPr>
              <a:t>Key idea:</a:t>
            </a:r>
            <a:r>
              <a:rPr sz="2400" b="0" i="0">
                <a:solidFill>
                  <a:srgbClr val="475569"/>
                </a:solidFill>
                <a:latin typeface="Arial"/>
                <a:ea typeface="Arial"/>
                <a:cs typeface="Arial"/>
              </a:rPr>
              <a:t> RTAB-Map &amp; Nav2 parameters tuned in the photorealistic 3DGS twin under RL gait bobbing (B) migrate directly to the physical Go2 (C) without retuning.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0000" y="16416000"/>
            <a:ext cx="14220000" cy="522000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31750">
            <a:solidFill>
              <a:srgbClr val="33415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 Same Side Corner Rectangle 14"/>
          <p:cNvSpPr/>
          <p:nvPr/>
        </p:nvSpPr>
        <p:spPr>
          <a:xfrm>
            <a:off x="720000" y="16416000"/>
            <a:ext cx="14220000" cy="720000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334155"/>
          </a:solidFill>
          <a:ln>
            <a:noFill/>
          </a:ln>
        </p:spPr>
        <p:txBody>
          <a:bodyPr wrap="none" lIns="288000" tIns="0" rIns="288000" bIns="0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1. Motivation &amp; Sim-to-Real Gap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6000" y="17388000"/>
            <a:ext cx="13787999" cy="403199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88000" indent="-288000"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buClr>
                <a:srgbClr val="334155"/>
              </a:buClr>
              <a:buSzPct val="85000"/>
              <a:buFont typeface="Arial"/>
              <a:buChar char="■"/>
            </a:pPr>
            <a:r>
              <a:rPr sz="26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LiDAR-Free Quadruped Autonomy:</a:t>
            </a:r>
            <a:r>
              <a:rPr sz="2600" b="0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 Single RGB-D camera replaces heavy, power-hungry LiDAR on legged robots.</a:t>
            </a:r>
          </a:p>
          <a:p>
            <a:pPr marL="288000" indent="-288000"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buClr>
                <a:srgbClr val="334155"/>
              </a:buClr>
              <a:buSzPct val="85000"/>
              <a:buFont typeface="Arial"/>
              <a:buChar char="■"/>
            </a:pPr>
            <a:r>
              <a:rPr sz="2600" b="1" i="0">
                <a:solidFill>
                  <a:srgbClr val="E66A00"/>
                </a:solidFill>
                <a:latin typeface="Arial"/>
                <a:ea typeface="Arial"/>
                <a:cs typeface="Arial"/>
              </a:rPr>
              <a:t>Perceptual Sim-to-Real Gap:</a:t>
            </a:r>
            <a:r>
              <a:rPr sz="2600" b="0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 Simulators lack photorealistic textures, causing V-SLAM feature tracking to fail in real environments.</a:t>
            </a:r>
          </a:p>
          <a:p>
            <a:pPr marL="288000" indent="-288000"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buClr>
                <a:srgbClr val="334155"/>
              </a:buClr>
              <a:buSzPct val="85000"/>
              <a:buFont typeface="Arial"/>
              <a:buChar char="■"/>
            </a:pPr>
            <a:r>
              <a:rPr sz="2600" b="1" i="0">
                <a:solidFill>
                  <a:srgbClr val="E66A00"/>
                </a:solidFill>
                <a:latin typeface="Arial"/>
                <a:ea typeface="Arial"/>
                <a:cs typeface="Arial"/>
              </a:rPr>
              <a:t>Dynamic Gait Bobbing Noise:</a:t>
            </a:r>
            <a:r>
              <a:rPr sz="2600" b="0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 Locomotion induces periodic camera jitter (pitch/roll/vertical), generating severe motion blur and false phantom obstacles.</a:t>
            </a:r>
          </a:p>
          <a:p>
            <a:pPr marL="288000" indent="-2880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ct val="85000"/>
              <a:buFont typeface="Arial"/>
              <a:buChar char="■"/>
            </a:pPr>
            <a:r>
              <a:rPr sz="26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Hardware Safety Bottleneck:</a:t>
            </a:r>
            <a:r>
              <a:rPr sz="2600" b="0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 Physical trial-and-error tuning carries high collision risks and severe battery runtime limits.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0000" y="21996000"/>
            <a:ext cx="14220000" cy="9432000"/>
          </a:xfrm>
          <a:prstGeom prst="roundRect">
            <a:avLst>
              <a:gd name="adj" fmla="val 3500"/>
            </a:avLst>
          </a:prstGeom>
          <a:solidFill>
            <a:srgbClr val="F0F6FE"/>
          </a:solidFill>
          <a:ln w="31750">
            <a:solidFill>
              <a:srgbClr val="1565C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 Same Side Corner Rectangle 17"/>
          <p:cNvSpPr/>
          <p:nvPr/>
        </p:nvSpPr>
        <p:spPr>
          <a:xfrm>
            <a:off x="720000" y="21996000"/>
            <a:ext cx="14220000" cy="720000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1565C0"/>
          </a:solidFill>
          <a:ln>
            <a:noFill/>
          </a:ln>
        </p:spPr>
        <p:txBody>
          <a:bodyPr wrap="none" lIns="288000" tIns="0" rIns="288000" bIns="0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2. 3DGS Digital Twin &amp; Collision Mesh</a:t>
            </a:r>
          </a:p>
        </p:txBody>
      </p:sp>
      <p:pic>
        <p:nvPicPr>
          <p:cNvPr id="19" name="Picture 18" descr="3dgs_mesh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999" y="22950000"/>
            <a:ext cx="13140000" cy="5010791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1385999" y="23040000"/>
            <a:ext cx="3407040" cy="402480"/>
          </a:xfrm>
          <a:prstGeom prst="roundRect">
            <a:avLst>
              <a:gd name="adj" fmla="val 40000"/>
            </a:avLst>
          </a:prstGeom>
          <a:solidFill>
            <a:srgbClr val="334155"/>
          </a:solidFill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fVDB Collision Mesh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56000" y="23040000"/>
            <a:ext cx="4556160" cy="402480"/>
          </a:xfrm>
          <a:prstGeom prst="roundRect">
            <a:avLst>
              <a:gd name="adj" fmla="val 40000"/>
            </a:avLst>
          </a:prstGeom>
          <a:solidFill>
            <a:srgbClr val="1565C0"/>
          </a:solidFill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3DGS Photorealistic Render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6000" y="28134000"/>
            <a:ext cx="13787999" cy="309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88000" indent="-288000" algn="l">
              <a:lnSpc>
                <a:spcPct val="105000"/>
              </a:lnSpc>
              <a:spcBef>
                <a:spcPts val="0"/>
              </a:spcBef>
              <a:spcAft>
                <a:spcPts val="450"/>
              </a:spcAft>
              <a:buClr>
                <a:srgbClr val="1565C0"/>
              </a:buClr>
              <a:buSzPct val="85000"/>
              <a:buFont typeface="Arial"/>
              <a:buChar char="■"/>
            </a:pPr>
            <a:r>
              <a:rPr sz="25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Offline Digital Twin Modeling:</a:t>
            </a:r>
            <a:r>
              <a:rPr sz="2500" b="0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 Reconstructed from DSLR images via COLMAP Structure-from-Motion (SfM) and 3D Gaussian Splatting (3DGS) exported to USDZ format.</a:t>
            </a:r>
          </a:p>
          <a:p>
            <a:pPr marL="288000" indent="-288000" algn="l">
              <a:lnSpc>
                <a:spcPct val="105000"/>
              </a:lnSpc>
              <a:spcBef>
                <a:spcPts val="0"/>
              </a:spcBef>
              <a:spcAft>
                <a:spcPts val="450"/>
              </a:spcAft>
              <a:buClr>
                <a:srgbClr val="1565C0"/>
              </a:buClr>
              <a:buSzPct val="85000"/>
              <a:buFont typeface="Arial"/>
              <a:buChar char="■"/>
            </a:pPr>
            <a:r>
              <a:rPr sz="25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NVIDIA fVDB Sparse Volumetric Mesh:</a:t>
            </a:r>
            <a:r>
              <a:rPr sz="2500" b="0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 Integrated into Isaac Sim 5.1.0 to compute accurate contact geometry and collision boundaries for quadruped foot placement.</a:t>
            </a:r>
          </a:p>
          <a:p>
            <a:pPr marL="288000" indent="-2880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ct val="85000"/>
              <a:buFont typeface="Arial"/>
              <a:buChar char="■"/>
            </a:pPr>
            <a:r>
              <a:rPr sz="25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Sensor Profile Alignment:</a:t>
            </a:r>
            <a:r>
              <a:rPr sz="2500" b="0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 Virtual camera FOV, resolution (640x480), and optical center strictly match the physical Intel RealSense D435i sensor to eliminate hardware discrepancies.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0000" y="31788000"/>
            <a:ext cx="14220000" cy="8928000"/>
          </a:xfrm>
          <a:prstGeom prst="roundRect">
            <a:avLst>
              <a:gd name="adj" fmla="val 3500"/>
            </a:avLst>
          </a:prstGeom>
          <a:solidFill>
            <a:srgbClr val="F0F6FE"/>
          </a:solidFill>
          <a:ln w="31750">
            <a:solidFill>
              <a:srgbClr val="1565C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57" name="Picture 24" descr="sim_nav2_crop.png">
            <a:extLst>
              <a:ext uri="{FF2B5EF4-FFF2-40B4-BE49-F238E27FC236}">
                <a16:creationId xmlns:a16="http://schemas.microsoft.com/office/drawing/2014/main" id="{19DA1997-0E7D-EBB4-9DEB-DC0B74715FF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593" r="49414" b="24610"/>
          <a:stretch>
            <a:fillRect/>
          </a:stretch>
        </p:blipFill>
        <p:spPr>
          <a:xfrm>
            <a:off x="927601" y="32741999"/>
            <a:ext cx="7179282" cy="4258217"/>
          </a:xfrm>
          <a:prstGeom prst="rect">
            <a:avLst/>
          </a:prstGeom>
        </p:spPr>
      </p:pic>
      <p:sp>
        <p:nvSpPr>
          <p:cNvPr id="24" name="Round Same Side Corner Rectangle 23"/>
          <p:cNvSpPr/>
          <p:nvPr/>
        </p:nvSpPr>
        <p:spPr>
          <a:xfrm>
            <a:off x="720000" y="31788000"/>
            <a:ext cx="14220000" cy="720000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1565C0"/>
          </a:solidFill>
          <a:ln>
            <a:noFill/>
          </a:ln>
        </p:spPr>
        <p:txBody>
          <a:bodyPr wrap="none" lIns="288000" tIns="0" rIns="288000" bIns="0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3. Virtual Validation &amp; Replanning</a:t>
            </a:r>
          </a:p>
        </p:txBody>
      </p:sp>
      <p:pic>
        <p:nvPicPr>
          <p:cNvPr id="25" name="Picture 24" descr="sim_nav2_crop.png"/>
          <p:cNvPicPr>
            <a:picLocks noChangeAspect="1"/>
          </p:cNvPicPr>
          <p:nvPr/>
        </p:nvPicPr>
        <p:blipFill>
          <a:blip r:embed="rId4"/>
          <a:srcRect l="53451"/>
          <a:stretch>
            <a:fillRect/>
          </a:stretch>
        </p:blipFill>
        <p:spPr>
          <a:xfrm>
            <a:off x="8305800" y="32742000"/>
            <a:ext cx="6418199" cy="4258217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1062000" y="32832000"/>
            <a:ext cx="4392000" cy="402480"/>
          </a:xfrm>
          <a:prstGeom prst="roundRect">
            <a:avLst>
              <a:gd name="adj" fmla="val 40000"/>
            </a:avLst>
          </a:prstGeom>
          <a:solidFill>
            <a:srgbClr val="1565C0"/>
          </a:solidFill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Isaac Sim Quadruped Model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75283" y="32814030"/>
            <a:ext cx="5376960" cy="402480"/>
          </a:xfrm>
          <a:prstGeom prst="roundRect">
            <a:avLst>
              <a:gd name="adj" fmla="val 40000"/>
            </a:avLst>
          </a:prstGeom>
          <a:solidFill>
            <a:srgbClr val="0B2545"/>
          </a:solidFill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RViz Nav2 </a:t>
            </a:r>
            <a:r>
              <a:rPr sz="1900" b="1" i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Costmap</a:t>
            </a:r>
            <a:r>
              <a:rPr sz="190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&amp; Global Path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6000" y="37188000"/>
            <a:ext cx="13787999" cy="331199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88000" indent="-288000" algn="l">
              <a:lnSpc>
                <a:spcPct val="105000"/>
              </a:lnSpc>
              <a:spcBef>
                <a:spcPts val="0"/>
              </a:spcBef>
              <a:spcAft>
                <a:spcPts val="450"/>
              </a:spcAft>
              <a:buClr>
                <a:srgbClr val="1565C0"/>
              </a:buClr>
              <a:buSzPct val="85000"/>
              <a:buFont typeface="Arial"/>
              <a:buChar char="■"/>
            </a:pPr>
            <a:r>
              <a:rPr sz="2500" b="1" i="0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Gait Oscillation Emulation:</a:t>
            </a:r>
            <a:r>
              <a:rPr sz="2500" b="0" i="0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 RL policy (PPO in Isaac Lab 2.3.2) trained with domain randomization (mass ±3kg, friction 0.6–0.8) reproduces realistic camera bobbing dynamics.</a:t>
            </a:r>
          </a:p>
          <a:p>
            <a:pPr marL="288000" indent="-288000" algn="l">
              <a:lnSpc>
                <a:spcPct val="105000"/>
              </a:lnSpc>
              <a:spcBef>
                <a:spcPts val="0"/>
              </a:spcBef>
              <a:spcAft>
                <a:spcPts val="450"/>
              </a:spcAft>
              <a:buClr>
                <a:srgbClr val="1565C0"/>
              </a:buClr>
              <a:buSzPct val="85000"/>
              <a:buFont typeface="Arial"/>
              <a:buChar char="■"/>
            </a:pPr>
            <a:r>
              <a:rPr sz="2500" b="1" i="0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RTAB-Map V-SLAM Optimization:</a:t>
            </a:r>
            <a:r>
              <a:rPr sz="2500" b="0" i="0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 Point cloud registration and loop closure thresholds tuned to withstand simulated locomotion pitch/roll oscillations without tracking loss.</a:t>
            </a:r>
          </a:p>
          <a:p>
            <a:pPr marL="288000" indent="-2880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ct val="85000"/>
              <a:buFont typeface="Arial"/>
              <a:buChar char="■"/>
            </a:pPr>
            <a:r>
              <a:rPr sz="2500" b="1" i="0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Nav2 Local Replanning:</a:t>
            </a:r>
            <a:r>
              <a:rPr sz="2500" b="0" i="0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 DWB local planner dynamically computes collision-free trajectories around inserted obstacles in the 80 m × 2.5 m digital corridor.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5336000" y="16416000"/>
            <a:ext cx="14220000" cy="9684000"/>
          </a:xfrm>
          <a:prstGeom prst="roundRect">
            <a:avLst>
              <a:gd name="adj" fmla="val 3500"/>
            </a:avLst>
          </a:prstGeom>
          <a:solidFill>
            <a:srgbClr val="F0FDF4"/>
          </a:solidFill>
          <a:ln w="31750">
            <a:solidFill>
              <a:srgbClr val="166534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 Same Side Corner Rectangle 29"/>
          <p:cNvSpPr/>
          <p:nvPr/>
        </p:nvSpPr>
        <p:spPr>
          <a:xfrm>
            <a:off x="15336000" y="16416000"/>
            <a:ext cx="14220000" cy="720000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166534"/>
          </a:solidFill>
          <a:ln>
            <a:noFill/>
          </a:ln>
        </p:spPr>
        <p:txBody>
          <a:bodyPr wrap="none" lIns="288000" tIns="0" rIns="288000" bIns="0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4. Physical Deployment (Unitree Go2)</a:t>
            </a:r>
          </a:p>
        </p:txBody>
      </p:sp>
      <p:pic>
        <p:nvPicPr>
          <p:cNvPr id="31" name="Picture 30" descr="real_robot_tight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23844" y="17370000"/>
            <a:ext cx="5637446" cy="5760000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15813844" y="17460000"/>
            <a:ext cx="3553920" cy="387360"/>
          </a:xfrm>
          <a:prstGeom prst="roundRect">
            <a:avLst>
              <a:gd name="adj" fmla="val 40000"/>
            </a:avLst>
          </a:prstGeom>
          <a:solidFill>
            <a:srgbClr val="166534"/>
          </a:solidFill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Go2 + D435i + Orin NX</a:t>
            </a:r>
          </a:p>
        </p:txBody>
      </p:sp>
      <p:pic>
        <p:nvPicPr>
          <p:cNvPr id="33" name="Picture 32" descr="map3d_cro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541290" y="17370000"/>
            <a:ext cx="6470808" cy="5760000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21631290" y="17460000"/>
            <a:ext cx="3864960" cy="387360"/>
          </a:xfrm>
          <a:prstGeom prst="roundRect">
            <a:avLst>
              <a:gd name="adj" fmla="val 40000"/>
            </a:avLst>
          </a:prstGeom>
          <a:solidFill>
            <a:srgbClr val="166534"/>
          </a:solidFill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RTAB-Map 3D Point Cloud</a:t>
            </a:r>
          </a:p>
        </p:txBody>
      </p:sp>
      <p:pic>
        <p:nvPicPr>
          <p:cNvPr id="35" name="Picture 34" descr="map2d_crop_x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192099" y="17369999"/>
            <a:ext cx="976056" cy="5760001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28397887" y="17406000"/>
            <a:ext cx="564480" cy="357120"/>
          </a:xfrm>
          <a:prstGeom prst="roundRect">
            <a:avLst>
              <a:gd name="adj" fmla="val 40000"/>
            </a:avLst>
          </a:prstGeom>
          <a:solidFill>
            <a:srgbClr val="166534"/>
          </a:solidFill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552000" y="23328000"/>
            <a:ext cx="13787999" cy="255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88000" indent="-288000" algn="l">
              <a:lnSpc>
                <a:spcPct val="105000"/>
              </a:lnSpc>
              <a:spcBef>
                <a:spcPts val="0"/>
              </a:spcBef>
              <a:spcAft>
                <a:spcPts val="550"/>
              </a:spcAft>
              <a:buClr>
                <a:srgbClr val="166534"/>
              </a:buClr>
              <a:buSzPct val="85000"/>
              <a:buFont typeface="Arial"/>
              <a:buChar char="■"/>
            </a:pPr>
            <a:r>
              <a:rPr sz="25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Fully Onboard Edge Computing:</a:t>
            </a:r>
            <a:r>
              <a:rPr sz="2500" b="0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 Intel RealSense D435i connected via USB 3.0 to an NVIDIA Jetson Orin NX, executing RTAB-Map and Nav2 autonomously in real time.</a:t>
            </a:r>
          </a:p>
          <a:p>
            <a:pPr marL="288000" indent="-2880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ct val="85000"/>
              <a:buFont typeface="Arial"/>
              <a:buChar char="■"/>
            </a:pPr>
            <a:r>
              <a:rPr sz="25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Decoupled Locomotion Control:</a:t>
            </a:r>
            <a:r>
              <a:rPr sz="2500" b="0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 To conserve edge compute for SLAM, the heavy RL policy is bypassed on physical hardware; Nav2 velocity commands route directly to the built-in Sport API via a lightweight ROS 2 bridge.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5336000" y="26460000"/>
            <a:ext cx="14220000" cy="8532000"/>
          </a:xfrm>
          <a:prstGeom prst="roundRect">
            <a:avLst>
              <a:gd name="adj" fmla="val 3500"/>
            </a:avLst>
          </a:prstGeom>
          <a:solidFill>
            <a:srgbClr val="F0FDF4"/>
          </a:solidFill>
          <a:ln w="31750">
            <a:solidFill>
              <a:srgbClr val="166534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 Same Side Corner Rectangle 38"/>
          <p:cNvSpPr/>
          <p:nvPr/>
        </p:nvSpPr>
        <p:spPr>
          <a:xfrm>
            <a:off x="15336000" y="26460000"/>
            <a:ext cx="14220000" cy="720000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166534"/>
          </a:solidFill>
          <a:ln>
            <a:noFill/>
          </a:ln>
        </p:spPr>
        <p:txBody>
          <a:bodyPr wrap="none" lIns="288000" tIns="0" rIns="288000" bIns="0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5. Experimental Results &amp; Verification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5552000" y="27413998"/>
            <a:ext cx="6750000" cy="18720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31750">
            <a:solidFill>
              <a:srgbClr val="1565C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5624000" y="27503998"/>
            <a:ext cx="6606000" cy="172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5600" b="1" i="0">
                <a:solidFill>
                  <a:srgbClr val="1565C0"/>
                </a:solidFill>
                <a:latin typeface="Arial"/>
                <a:ea typeface="Arial"/>
                <a:cs typeface="Arial"/>
              </a:rPr>
              <a:t>80 m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3DGS Corridor Digital Twin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2590000" y="27413998"/>
            <a:ext cx="6750000" cy="18720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31750">
            <a:solidFill>
              <a:srgbClr val="166534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2662000" y="27503998"/>
            <a:ext cx="6606000" cy="172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5600" b="1" i="0">
                <a:solidFill>
                  <a:srgbClr val="166534"/>
                </a:solidFill>
                <a:latin typeface="Arial"/>
                <a:ea typeface="Arial"/>
                <a:cs typeface="Arial"/>
              </a:rPr>
              <a:t>0.4 m/s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Walking Speed w/ Loop Closure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5552000" y="29483999"/>
            <a:ext cx="6750000" cy="18720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31750">
            <a:solidFill>
              <a:srgbClr val="0B254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5624000" y="29573999"/>
            <a:ext cx="6606000" cy="172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5600" b="1" i="0">
                <a:solidFill>
                  <a:srgbClr val="0B2545"/>
                </a:solidFill>
                <a:latin typeface="Arial"/>
                <a:ea typeface="Arial"/>
                <a:cs typeface="Arial"/>
              </a:rPr>
              <a:t>1 RGB-D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Single D435i Camera (Zero LiDAR)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2590000" y="29483999"/>
            <a:ext cx="6750000" cy="18720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31750">
            <a:solidFill>
              <a:srgbClr val="F59E0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22662000" y="29573999"/>
            <a:ext cx="6606000" cy="172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5600" b="1" i="0">
                <a:solidFill>
                  <a:srgbClr val="F59E0B"/>
                </a:solidFill>
                <a:latin typeface="Arial"/>
                <a:ea typeface="Arial"/>
                <a:cs typeface="Arial"/>
              </a:rPr>
              <a:t>0 Recalib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Zero-Code Sim-to-Real Transfer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5552000" y="31625999"/>
            <a:ext cx="13787999" cy="31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88000" indent="-288000" algn="l">
              <a:lnSpc>
                <a:spcPct val="105000"/>
              </a:lnSpc>
              <a:spcBef>
                <a:spcPts val="0"/>
              </a:spcBef>
              <a:spcAft>
                <a:spcPts val="550"/>
              </a:spcAft>
              <a:buClr>
                <a:srgbClr val="166534"/>
              </a:buClr>
              <a:buSzPct val="85000"/>
              <a:buFont typeface="Arial"/>
              <a:buChar char="■"/>
            </a:pPr>
            <a:r>
              <a:rPr sz="25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Direct Parameter Migration:</a:t>
            </a:r>
            <a:r>
              <a:rPr sz="2500" b="0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 Parameters optimized under simulated camera bobbing transferred seamlessly across ROS distributions (Jazzy on sim → Foxy on robot) without physical retuning.</a:t>
            </a:r>
          </a:p>
          <a:p>
            <a:pPr marL="288000" indent="-2880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ct val="85000"/>
              <a:buFont typeface="Arial"/>
              <a:buChar char="■"/>
            </a:pPr>
            <a:r>
              <a:rPr sz="2500" b="1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Robust Visual Mapping:</a:t>
            </a:r>
            <a:r>
              <a:rPr sz="2500" b="0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 RTAB-Map successfully extracted features and detected global loop closures throughout the 80 m corridor, eliminating phantom obstacles.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5336000" y="35352000"/>
            <a:ext cx="14220000" cy="536400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31750">
            <a:solidFill>
              <a:srgbClr val="0B254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 Same Side Corner Rectangle 49"/>
          <p:cNvSpPr/>
          <p:nvPr/>
        </p:nvSpPr>
        <p:spPr>
          <a:xfrm>
            <a:off x="15336000" y="35352000"/>
            <a:ext cx="14220000" cy="720000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0B2545"/>
          </a:solidFill>
          <a:ln>
            <a:noFill/>
          </a:ln>
        </p:spPr>
        <p:txBody>
          <a:bodyPr wrap="none" lIns="288000" tIns="0" rIns="288000" bIns="0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6. Conclusion &amp; Future Outlook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5552000" y="36324000"/>
            <a:ext cx="13787999" cy="417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88000" indent="-288000"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buClr>
                <a:srgbClr val="0B2545"/>
              </a:buClr>
              <a:buSzPct val="85000"/>
              <a:buFont typeface="Arial"/>
              <a:buChar char="■"/>
            </a:pPr>
            <a:r>
              <a:rPr sz="2500" b="1" i="0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Practical Virtual Sandbox:</a:t>
            </a:r>
            <a:r>
              <a:rPr sz="2500" b="0" i="0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 Demonstrates that pairing a photorealistic 3DGS digital twin with RL-generated gait dynamics provides an effective, risk-free testbed for visual quadruped navigation.</a:t>
            </a:r>
          </a:p>
          <a:p>
            <a:pPr marL="288000" indent="-288000"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buClr>
                <a:srgbClr val="0B2545"/>
              </a:buClr>
              <a:buSzPct val="85000"/>
              <a:buFont typeface="Arial"/>
              <a:buChar char="■"/>
            </a:pPr>
            <a:r>
              <a:rPr sz="2500" b="1" i="0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Decoupled Edge Efficiency:</a:t>
            </a:r>
            <a:r>
              <a:rPr sz="2500" b="0" i="0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 Separating simulation-based parameter discovery from onboard execution enables lightweight real-world deployment on resource-constrained Jetson platforms.</a:t>
            </a:r>
          </a:p>
          <a:p>
            <a:pPr marL="288000" indent="-2880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B2545"/>
              </a:buClr>
              <a:buSzPct val="85000"/>
              <a:buFont typeface="Arial"/>
              <a:buChar char="■"/>
            </a:pPr>
            <a:r>
              <a:rPr sz="2500" b="1" i="0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Future Research:</a:t>
            </a:r>
            <a:r>
              <a:rPr sz="2500" b="0" i="0" dirty="0">
                <a:solidFill>
                  <a:srgbClr val="0F172A"/>
                </a:solidFill>
                <a:latin typeface="Arial"/>
                <a:ea typeface="Arial"/>
                <a:cs typeface="Arial"/>
              </a:rPr>
              <a:t> Expanding from static corridors to dynamic obstacle avoidance benchmarks, multi-floor terrain transitions, and direct neural policy deployment.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20000" y="40968000"/>
            <a:ext cx="28835999" cy="288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20000" y="41155200"/>
            <a:ext cx="28835999" cy="82799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0B2545"/>
                </a:solidFill>
                <a:latin typeface="Arial"/>
                <a:ea typeface="Arial"/>
                <a:cs typeface="Arial"/>
              </a:rPr>
              <a:t>References:  </a:t>
            </a:r>
            <a:r>
              <a:rPr sz="2200" b="0" i="0">
                <a:solidFill>
                  <a:srgbClr val="475569"/>
                </a:solidFill>
                <a:latin typeface="Arial"/>
                <a:ea typeface="Arial"/>
                <a:cs typeface="Arial"/>
              </a:rPr>
              <a:t>[1] B. Kerbl et al., “3D Gaussian splatting for real-time radiance field rendering,” </a:t>
            </a:r>
            <a:r>
              <a:rPr sz="2200" b="0" i="1">
                <a:solidFill>
                  <a:srgbClr val="475569"/>
                </a:solidFill>
                <a:latin typeface="Arial"/>
                <a:ea typeface="Arial"/>
                <a:cs typeface="Arial"/>
              </a:rPr>
              <a:t>ACM TOG</a:t>
            </a:r>
            <a:r>
              <a:rPr sz="2200" b="0" i="0">
                <a:solidFill>
                  <a:srgbClr val="475569"/>
                </a:solidFill>
                <a:latin typeface="Arial"/>
                <a:ea typeface="Arial"/>
                <a:cs typeface="Arial"/>
              </a:rPr>
              <a:t>, 2023.    [2] M. Labbé &amp; F. Michaud, “RTAB-Map as an open-source lidar and visual SLAM library,” </a:t>
            </a:r>
            <a:r>
              <a:rPr sz="2200" b="0" i="1">
                <a:solidFill>
                  <a:srgbClr val="475569"/>
                </a:solidFill>
                <a:latin typeface="Arial"/>
                <a:ea typeface="Arial"/>
                <a:cs typeface="Arial"/>
              </a:rPr>
              <a:t>arXiv:2403.06341</a:t>
            </a:r>
            <a:r>
              <a:rPr sz="2200" b="0" i="0">
                <a:solidFill>
                  <a:srgbClr val="475569"/>
                </a:solidFill>
                <a:latin typeface="Arial"/>
                <a:ea typeface="Arial"/>
                <a:cs typeface="Arial"/>
              </a:rPr>
              <a:t>, 2024.</a:t>
            </a:r>
          </a:p>
          <a:p>
            <a:pPr algn="l" marL="1745999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475569"/>
                </a:solidFill>
                <a:latin typeface="Arial"/>
                <a:ea typeface="Arial"/>
                <a:cs typeface="Arial"/>
              </a:rPr>
              <a:t>[3] S. Macenski et al., “Robot Operating System 2: Design and architecture,” </a:t>
            </a:r>
            <a:r>
              <a:rPr sz="2200" b="0" i="1">
                <a:solidFill>
                  <a:srgbClr val="475569"/>
                </a:solidFill>
                <a:latin typeface="Arial"/>
                <a:ea typeface="Arial"/>
                <a:cs typeface="Arial"/>
              </a:rPr>
              <a:t>Science Robotics</a:t>
            </a:r>
            <a:r>
              <a:rPr sz="2200" b="0" i="0">
                <a:solidFill>
                  <a:srgbClr val="475569"/>
                </a:solidFill>
                <a:latin typeface="Arial"/>
                <a:ea typeface="Arial"/>
                <a:cs typeface="Arial"/>
              </a:rPr>
              <a:t>, 2022.    [4] S. Zhu et al., “VR-Robo: Real-to-sim-to-real for visual robot navigation,” </a:t>
            </a:r>
            <a:r>
              <a:rPr sz="2200" b="0" i="1">
                <a:solidFill>
                  <a:srgbClr val="475569"/>
                </a:solidFill>
                <a:latin typeface="Arial"/>
                <a:ea typeface="Arial"/>
                <a:cs typeface="Arial"/>
              </a:rPr>
              <a:t>IEEE RA-L</a:t>
            </a:r>
            <a:r>
              <a:rPr sz="2200" b="0" i="0">
                <a:solidFill>
                  <a:srgbClr val="475569"/>
                </a:solidFill>
                <a:latin typeface="Arial"/>
                <a:ea typeface="Arial"/>
                <a:cs typeface="Arial"/>
              </a:rPr>
              <a:t>, 2025.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20000" y="521999"/>
            <a:ext cx="28835999" cy="864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07999" y="521999"/>
            <a:ext cx="12600000" cy="864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ICCAS 2026 Poster [</a:t>
            </a:r>
            <a:r>
              <a:rPr sz="4200" b="1">
                <a:solidFill>
                  <a:srgbClr val="FFFF00"/>
                </a:solidFill>
                <a:latin typeface="Arial"/>
                <a:ea typeface="Arial"/>
                <a:cs typeface="Arial"/>
              </a:rPr>
              <a:t>FrPo6P.32</a:t>
            </a: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]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3680000" y="521999"/>
            <a:ext cx="15587999" cy="864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Computer Graphics and Vision Lab (CGV)  ·  Handong Global University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20000" y="1494000"/>
            <a:ext cx="28835999" cy="2880000"/>
          </a:xfrm>
          <a:prstGeom prst="rect">
            <a:avLst/>
          </a:prstGeom>
          <a:solidFill>
            <a:srgbClr val="DEEB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490000" y="2285287"/>
            <a:ext cx="5760000" cy="1297425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1007999" y="1612799"/>
            <a:ext cx="22104000" cy="1548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5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Bridging the Sim-to-Real Gap in Quadrupedal Visual Navigation via 3D Gaussian Splatting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07999" y="3329999"/>
            <a:ext cx="22104000" cy="50399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>
                <a:solidFill>
                  <a:srgbClr val="0B2545"/>
                </a:solidFill>
                <a:latin typeface="Arial"/>
                <a:ea typeface="Arial"/>
                <a:cs typeface="Arial"/>
              </a:rPr>
              <a:t>Minseok Lee</a:t>
            </a:r>
            <a:r>
              <a:rPr sz="3200" b="1" baseline="30000">
                <a:solidFill>
                  <a:srgbClr val="0B2545"/>
                </a:solidFill>
                <a:latin typeface="Arial"/>
                <a:ea typeface="Arial"/>
                <a:cs typeface="Arial"/>
              </a:rPr>
              <a:t>1</a:t>
            </a:r>
            <a:r>
              <a:rPr sz="3200" b="1">
                <a:solidFill>
                  <a:srgbClr val="0B2545"/>
                </a:solidFill>
                <a:latin typeface="Arial"/>
                <a:ea typeface="Arial"/>
                <a:cs typeface="Arial"/>
              </a:rPr>
              <a:t>,  Seongyu Han</a:t>
            </a:r>
            <a:r>
              <a:rPr sz="3200" b="1" baseline="30000">
                <a:solidFill>
                  <a:srgbClr val="0B2545"/>
                </a:solidFill>
                <a:latin typeface="Arial"/>
                <a:ea typeface="Arial"/>
                <a:cs typeface="Arial"/>
              </a:rPr>
              <a:t>1</a:t>
            </a:r>
            <a:r>
              <a:rPr sz="3200" b="1">
                <a:solidFill>
                  <a:srgbClr val="0B2545"/>
                </a:solidFill>
                <a:latin typeface="Arial"/>
                <a:ea typeface="Arial"/>
                <a:cs typeface="Arial"/>
              </a:rPr>
              <a:t>,  Heejae Moon</a:t>
            </a:r>
            <a:r>
              <a:rPr sz="3200" b="1" baseline="30000">
                <a:solidFill>
                  <a:srgbClr val="0B2545"/>
                </a:solidFill>
                <a:latin typeface="Arial"/>
                <a:ea typeface="Arial"/>
                <a:cs typeface="Arial"/>
              </a:rPr>
              <a:t>1</a:t>
            </a:r>
            <a:r>
              <a:rPr sz="3200" b="1">
                <a:solidFill>
                  <a:srgbClr val="0B2545"/>
                </a:solidFill>
                <a:latin typeface="Arial"/>
                <a:ea typeface="Arial"/>
                <a:cs typeface="Arial"/>
              </a:rPr>
              <a:t>,  and  Sung Soo Hwang</a:t>
            </a:r>
            <a:r>
              <a:rPr sz="3200" b="1" baseline="30000">
                <a:solidFill>
                  <a:srgbClr val="0B2545"/>
                </a:solidFill>
                <a:latin typeface="Arial"/>
                <a:ea typeface="Arial"/>
                <a:cs typeface="Arial"/>
              </a:rPr>
              <a:t>1*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07999" y="3880800"/>
            <a:ext cx="28260000" cy="396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200" b="0" baseline="30000">
                <a:solidFill>
                  <a:srgbClr val="1E293B"/>
                </a:solidFill>
                <a:latin typeface="Arial"/>
                <a:ea typeface="Arial"/>
                <a:cs typeface="Arial"/>
              </a:rPr>
              <a:t>1</a:t>
            </a:r>
            <a:r>
              <a:rPr sz="2200" b="0">
                <a:solidFill>
                  <a:srgbClr val="1E293B"/>
                </a:solidFill>
                <a:latin typeface="Arial"/>
                <a:ea typeface="Arial"/>
                <a:cs typeface="Arial"/>
              </a:rPr>
              <a:t>School of Artificial Intelligence, Computer and Electrical Engineering, Handong Global University, Pohang 37554, Korea   ·   </a:t>
            </a:r>
            <a:r>
              <a:rPr sz="2200" b="1" baseline="30000">
                <a:solidFill>
                  <a:srgbClr val="0B2545"/>
                </a:solidFill>
                <a:latin typeface="Arial"/>
                <a:ea typeface="Arial"/>
                <a:cs typeface="Arial"/>
              </a:rPr>
              <a:t>*</a:t>
            </a:r>
            <a:r>
              <a:rPr sz="2200" b="1">
                <a:solidFill>
                  <a:srgbClr val="0B2545"/>
                </a:solidFill>
                <a:latin typeface="Arial"/>
                <a:ea typeface="Arial"/>
                <a:cs typeface="Arial"/>
              </a:rPr>
              <a:t>sshwang@handong.edu</a:t>
            </a:r>
          </a:p>
        </p:txBody>
      </p:sp>
    </p:spTree>
    <p:extLst>
      <p:ext uri="{BB962C8B-B14F-4D97-AF65-F5344CB8AC3E}">
        <p14:creationId xmlns:p14="http://schemas.microsoft.com/office/powerpoint/2010/main" val="11123174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43</TotalTime>
  <Words>761</Words>
  <Application>Microsoft Office PowerPoint</Application>
  <PresentationFormat>사용자 지정</PresentationFormat>
  <Paragraphs>47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</dc:creator>
  <cp:lastModifiedBy>민석 이</cp:lastModifiedBy>
  <cp:revision>15</cp:revision>
  <dcterms:created xsi:type="dcterms:W3CDTF">2020-09-22T08:31:15Z</dcterms:created>
  <dcterms:modified xsi:type="dcterms:W3CDTF">2026-10-25T07:29:25Z</dcterms:modified>
</cp:coreProperties>
</file>