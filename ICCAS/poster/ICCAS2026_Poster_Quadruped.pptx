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30275213" cy="4247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" d="100"/>
          <a:sy n="15" d="100"/>
        </p:scale>
        <p:origin x="14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6952156"/>
            <a:ext cx="25733931" cy="14789303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311791"/>
            <a:ext cx="22706410" cy="10256143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84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13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590491"/>
            <a:ext cx="26112371" cy="17670461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428121"/>
            <a:ext cx="26112371" cy="9292478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735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08310"/>
            <a:ext cx="12866966" cy="26953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08310"/>
            <a:ext cx="12866966" cy="26953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9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61671"/>
            <a:ext cx="26112371" cy="821082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13482"/>
            <a:ext cx="12807832" cy="5103486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516968"/>
            <a:ext cx="12807832" cy="228231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13482"/>
            <a:ext cx="12870909" cy="5103486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516968"/>
            <a:ext cx="12870909" cy="228231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2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84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31994"/>
            <a:ext cx="9764544" cy="9911980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16330"/>
            <a:ext cx="15326827" cy="30188272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743974"/>
            <a:ext cx="9764544" cy="23609788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41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31994"/>
            <a:ext cx="9764544" cy="9911980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16330"/>
            <a:ext cx="15326827" cy="30188272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743974"/>
            <a:ext cx="9764544" cy="23609788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84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84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61662"/>
            <a:ext cx="6528093" cy="359997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61662"/>
            <a:ext cx="19205838" cy="359997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906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61671"/>
            <a:ext cx="26112371" cy="8210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08310"/>
            <a:ext cx="26112371" cy="26953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372595"/>
            <a:ext cx="6811923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96405-FC94-4A51-AF54-A6A424E5C0B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372595"/>
            <a:ext cx="10217884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372595"/>
            <a:ext cx="6811923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08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999" cy="5760000"/>
          </a:xfrm>
          <a:prstGeom prst="rect">
            <a:avLst/>
          </a:prstGeom>
          <a:gradFill rotWithShape="1">
            <a:gsLst>
              <a:gs pos="0">
                <a:srgbClr val="071A33"/>
              </a:gs>
              <a:gs pos="100000">
                <a:srgbClr val="1565C0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275999" cy="54000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0000" y="115200"/>
            <a:ext cx="10172160" cy="508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71A33"/>
                </a:solidFill>
                <a:latin typeface="Arial"/>
                <a:ea typeface="Arial"/>
                <a:cs typeface="Arial"/>
              </a:rPr>
              <a:t>ICCAS 2026 Poster  [ Session Code [TuP...]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0" y="115200"/>
            <a:ext cx="14435999" cy="3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BFDBFE"/>
                </a:solidFill>
                <a:latin typeface="Arial"/>
                <a:ea typeface="Arial"/>
                <a:cs typeface="Arial"/>
              </a:rPr>
              <a:t>Computer Graphics &amp; Virtual Reality Lab (CGV)  ·  Handong Global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48000"/>
            <a:ext cx="28835999" cy="208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7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Bridging the Sim-to-Real Gap in Quadrupedal Visual Navigation via 3D Gaussian Splatting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916000"/>
            <a:ext cx="28835999" cy="6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Minseok Lee</a:t>
            </a:r>
            <a:r>
              <a:rPr sz="4200" b="1" i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 Seongyu Han</a:t>
            </a:r>
            <a:r>
              <a:rPr sz="4200" b="1" i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 Heejae Moon</a:t>
            </a:r>
            <a:r>
              <a:rPr sz="4200" b="1" i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r>
              <a:rPr sz="4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 and  Sung Soo Hwang</a:t>
            </a:r>
            <a:r>
              <a:rPr sz="4200" b="1" i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1*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3600000"/>
            <a:ext cx="28835999" cy="5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 baseline="30000">
                <a:solidFill>
                  <a:srgbClr val="BFDBFE"/>
                </a:solidFill>
                <a:latin typeface="Arial"/>
                <a:ea typeface="Arial"/>
                <a:cs typeface="Arial"/>
              </a:rPr>
              <a:t>1</a:t>
            </a:r>
            <a:r>
              <a:rPr sz="2800" b="0" i="0">
                <a:solidFill>
                  <a:srgbClr val="BFDBFE"/>
                </a:solidFill>
                <a:latin typeface="Arial"/>
                <a:ea typeface="Arial"/>
                <a:cs typeface="Arial"/>
              </a:rPr>
              <a:t>School of Artificial Intelligence, Computer and Electrical Engineering, Handong Global University, Pohang 37554, Korea   ·   </a:t>
            </a:r>
            <a:r>
              <a:rPr sz="2800" b="0" i="0" baseline="30000">
                <a:solidFill>
                  <a:srgbClr val="BFDBFE"/>
                </a:solidFill>
                <a:latin typeface="Arial"/>
                <a:ea typeface="Arial"/>
                <a:cs typeface="Arial"/>
              </a:rPr>
              <a:t>*</a:t>
            </a:r>
            <a:r>
              <a:rPr sz="2800" b="0" i="0">
                <a:solidFill>
                  <a:srgbClr val="BFDBFE"/>
                </a:solidFill>
                <a:latin typeface="Arial"/>
                <a:ea typeface="Arial"/>
                <a:cs typeface="Arial"/>
              </a:rPr>
              <a:t>sshwang@handong.edu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760000"/>
            <a:ext cx="30275999" cy="12599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0000" y="6048000"/>
            <a:ext cx="28835999" cy="813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31750">
            <a:solidFill>
              <a:srgbClr val="0B25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720000" y="6048000"/>
            <a:ext cx="28835999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B2545"/>
          </a:solidFill>
          <a:ln>
            <a:noFill/>
          </a:ln>
        </p:spPr>
        <p:txBody>
          <a:bodyPr rtlCol="0" anchor="ctr" wrap="none" lIns="288000" rIns="28800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Sim-to-Real Quadrupedal Visual Navigation Architecture</a:t>
            </a:r>
          </a:p>
        </p:txBody>
      </p:sp>
      <p:pic>
        <p:nvPicPr>
          <p:cNvPr id="12" name="Picture 11" descr="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759" y="7020000"/>
            <a:ext cx="14802480" cy="554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6000" y="12636000"/>
            <a:ext cx="28403999" cy="57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Core Sim-to-Real Methodology:</a:t>
            </a:r>
            <a:r>
              <a:rPr sz="25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Virtual parameters optimized under simulated 3DGS photorealism &amp; RL gait bobbing noise (Phase B) transfer directly to the physical Unitree Go2 (Phase C). Hardware control routes commands to the built-in Sport API via a ROS 2 bridge, bypassing heavy RL computation on the Jetson Orin NX.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14472000"/>
            <a:ext cx="14220000" cy="6336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31750">
            <a:solidFill>
              <a:srgbClr val="33415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720000" y="14472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4155"/>
          </a:solidFill>
          <a:ln>
            <a:noFill/>
          </a:ln>
        </p:spPr>
        <p:txBody>
          <a:bodyPr rtlCol="0" anchor="ctr" wrap="none" lIns="288000" rIns="28800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Motivation &amp; Sim-to-Real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000" y="15408000"/>
            <a:ext cx="13787999" cy="51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LiDAR-Free Quadruped Autonomy: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Single RGB-D camera replaces heavy, power-hungry LiDAR on legged robots.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E66A00"/>
                </a:solidFill>
                <a:latin typeface="Arial"/>
                <a:ea typeface="Arial"/>
                <a:cs typeface="Arial"/>
              </a:rPr>
              <a:t>Perceptual Sim-to-Real Gap: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Simulators lack photorealistic textures, causing V-SLAM feature tracking to fail in real environments.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E66A00"/>
                </a:solidFill>
                <a:latin typeface="Arial"/>
                <a:ea typeface="Arial"/>
                <a:cs typeface="Arial"/>
              </a:rPr>
              <a:t>Dynamic Gait Bobbing Noise: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Locomotion induces periodic camera jitter (pitch/roll/vertical), generating severe motion blur and false phantom obstacles.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Hardware Safety Bottleneck: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Physical trial-and-error tuning carries high collision risks and severe battery runtime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21096000"/>
            <a:ext cx="14220000" cy="9288000"/>
          </a:xfrm>
          <a:prstGeom prst="roundRect">
            <a:avLst>
              <a:gd name="adj" fmla="val 3500"/>
            </a:avLst>
          </a:prstGeom>
          <a:solidFill>
            <a:srgbClr val="F0F6FE"/>
          </a:solidFill>
          <a:ln w="31750">
            <a:solidFill>
              <a:srgbClr val="1565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720000" y="21096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565C0"/>
          </a:solidFill>
          <a:ln>
            <a:noFill/>
          </a:ln>
        </p:spPr>
        <p:txBody>
          <a:bodyPr rtlCol="0" anchor="ctr" wrap="none" lIns="288000" rIns="28800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3DGS Digital Twin &amp; Collision Mesh</a:t>
            </a:r>
          </a:p>
        </p:txBody>
      </p:sp>
      <p:pic>
        <p:nvPicPr>
          <p:cNvPr id="19" name="Picture 18" descr="fig_3dgs_m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299" y="22032000"/>
            <a:ext cx="7493400" cy="4140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209299" y="22140000"/>
            <a:ext cx="3571200" cy="417600"/>
          </a:xfrm>
          <a:prstGeom prst="roundRect">
            <a:avLst>
              <a:gd name="adj" fmla="val 40000"/>
            </a:avLst>
          </a:prstGeom>
          <a:solidFill>
            <a:srgbClr val="334155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fVDB Collision Mesh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6000" y="22140000"/>
            <a:ext cx="4780800" cy="41760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3DGS Photorealistic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" y="26298000"/>
            <a:ext cx="13787999" cy="38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Offline Digital Twin Modeling: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Reconstructed from DSLR images via COLMAP Structure-from-Motion (SfM) and 3D Gaussian Splatting (3DGS) exported to USDZ format.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NVIDIA fVDB Sparse Volumetric Mesh: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Integrated into Isaac Sim 5.1.0 to compute accurate contact geometry and collision boundaries for quadruped foot placement.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Sensor Profile Alignment: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Virtual camera FOV, resolution (640x480), and optical center strictly match the physical Intel RealSense D435i sensor to eliminate hardware discrepancies.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30672000"/>
            <a:ext cx="14220000" cy="9288000"/>
          </a:xfrm>
          <a:prstGeom prst="roundRect">
            <a:avLst>
              <a:gd name="adj" fmla="val 3500"/>
            </a:avLst>
          </a:prstGeom>
          <a:solidFill>
            <a:srgbClr val="F0F6FE"/>
          </a:solidFill>
          <a:ln w="31750">
            <a:solidFill>
              <a:srgbClr val="1565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720000" y="30672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565C0"/>
          </a:solidFill>
          <a:ln>
            <a:noFill/>
          </a:ln>
        </p:spPr>
        <p:txBody>
          <a:bodyPr rtlCol="0" anchor="ctr" wrap="none" lIns="288000" rIns="28800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Virtual Validation &amp; Replanning</a:t>
            </a:r>
          </a:p>
        </p:txBody>
      </p:sp>
      <p:pic>
        <p:nvPicPr>
          <p:cNvPr id="25" name="Picture 24" descr="fig_sim_na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000" y="31608000"/>
            <a:ext cx="13787999" cy="387303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62000" y="31715999"/>
            <a:ext cx="4608000" cy="41760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Isaac Sim Quadruped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6000" y="31715999"/>
            <a:ext cx="5644800" cy="417600"/>
          </a:xfrm>
          <a:prstGeom prst="roundRect">
            <a:avLst>
              <a:gd name="adj" fmla="val 40000"/>
            </a:avLst>
          </a:prstGeom>
          <a:solidFill>
            <a:srgbClr val="0B2545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RViz Nav2 Costmap &amp; Global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00" y="35607033"/>
            <a:ext cx="13787999" cy="41369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Gait Oscillation Emulation: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RL policy (PPO in Isaac Lab 2.3.2) trained with domain randomization (mass ±3kg, friction 0.6–0.8) reproduces realistic camera bobbing dynamics.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RTAB-Map V-SLAM Optimization: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Point cloud registration and loop closure thresholds tuned to withstand simulated locomotion pitch/roll oscillations without tracking loss.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Nav2 Local Replanning: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DWB local planner dynamically computes collision-free trajectories around inserted obstacles in the 80 m × 2.5 m digital corridor.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336000" y="14472000"/>
            <a:ext cx="14220000" cy="95400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31750">
            <a:solidFill>
              <a:srgbClr val="1665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15336000" y="14472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66534"/>
          </a:solidFill>
          <a:ln>
            <a:noFill/>
          </a:ln>
        </p:spPr>
        <p:txBody>
          <a:bodyPr rtlCol="0" anchor="ctr" wrap="none" lIns="288000" rIns="28800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Physical Deployment (Unitree Go2)</a:t>
            </a:r>
          </a:p>
        </p:txBody>
      </p:sp>
      <p:pic>
        <p:nvPicPr>
          <p:cNvPr id="31" name="Picture 30" descr="real_robot_cr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9200" y="15408000"/>
            <a:ext cx="3456000" cy="43200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7161200" y="15480000"/>
            <a:ext cx="2309760" cy="387360"/>
          </a:xfrm>
          <a:prstGeom prst="roundRect">
            <a:avLst>
              <a:gd name="adj" fmla="val 40000"/>
            </a:avLst>
          </a:prstGeom>
          <a:solidFill>
            <a:srgbClr val="166534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Go2 + Orin NX</a:t>
            </a:r>
          </a:p>
        </p:txBody>
      </p:sp>
      <p:pic>
        <p:nvPicPr>
          <p:cNvPr id="33" name="Picture 32" descr="fig_3d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61200" y="15408000"/>
            <a:ext cx="5875200" cy="4320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0833200" y="15480000"/>
            <a:ext cx="1998719" cy="387360"/>
          </a:xfrm>
          <a:prstGeom prst="roundRect">
            <a:avLst>
              <a:gd name="adj" fmla="val 40000"/>
            </a:avLst>
          </a:prstGeom>
          <a:solidFill>
            <a:srgbClr val="166534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RTAB-Map 3D</a:t>
            </a:r>
          </a:p>
        </p:txBody>
      </p:sp>
      <p:pic>
        <p:nvPicPr>
          <p:cNvPr id="35" name="Picture 34" descr="map2d_x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52400" y="15408000"/>
            <a:ext cx="950400" cy="43200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26852400" y="15480000"/>
            <a:ext cx="564480" cy="357120"/>
          </a:xfrm>
          <a:prstGeom prst="roundRect">
            <a:avLst>
              <a:gd name="adj" fmla="val 40000"/>
            </a:avLst>
          </a:prstGeom>
          <a:solidFill>
            <a:srgbClr val="166534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52000" y="19854000"/>
            <a:ext cx="13787999" cy="394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Fully Onboard Edge Computing: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Intel RealSense D435i connected via USB 3.0 to an NVIDIA Jetson Orin NX, executing RTAB-Map and Nav2 autonomously in real time.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Decoupled Locomotion Control: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To conserve edge compute for SLAM, the heavy RL policy is bypassed on physical hardware; Nav2 velocity commands route directly to the built-in Sport API via a lightweight ROS 2 bridge.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336000" y="24300000"/>
            <a:ext cx="14220000" cy="90000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31750">
            <a:solidFill>
              <a:srgbClr val="1665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336000" y="24300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66534"/>
          </a:solidFill>
          <a:ln>
            <a:noFill/>
          </a:ln>
        </p:spPr>
        <p:txBody>
          <a:bodyPr rtlCol="0" anchor="ctr" wrap="none" lIns="288000" rIns="28800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5. Experimental Results &amp; Verification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52000" y="25235999"/>
            <a:ext cx="6750000" cy="18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8100">
            <a:solidFill>
              <a:srgbClr val="1565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624000" y="25290000"/>
            <a:ext cx="6606000" cy="169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1565C0"/>
                </a:solidFill>
                <a:latin typeface="Arial"/>
                <a:ea typeface="Arial"/>
                <a:cs typeface="Arial"/>
              </a:rPr>
              <a:t>80 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3DGS Corridor Digital Twin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590000" y="25235999"/>
            <a:ext cx="6750000" cy="18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8100">
            <a:solidFill>
              <a:srgbClr val="1665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662000" y="25290000"/>
            <a:ext cx="6606000" cy="169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166534"/>
                </a:solidFill>
                <a:latin typeface="Arial"/>
                <a:ea typeface="Arial"/>
                <a:cs typeface="Arial"/>
              </a:rPr>
              <a:t>0.4 m/s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Walking Speed w/ Loop Closure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52000" y="27215999"/>
            <a:ext cx="6750000" cy="18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8100">
            <a:solidFill>
              <a:srgbClr val="0B25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624000" y="27270000"/>
            <a:ext cx="6606000" cy="169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1 RGB-D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Single D435i Camera (Zero LiDAR)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590000" y="27215999"/>
            <a:ext cx="6750000" cy="180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662000" y="27270000"/>
            <a:ext cx="6606000" cy="169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0 Recalib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Zero-Code Sim-to-Real Transfer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52000" y="29268000"/>
            <a:ext cx="13787999" cy="38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Direct Parameter Migration: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Parameters optimized under simulated camera bobbing transferred seamlessly across ROS distributions (Jazzy on sim → Foxy on robot) without physical retuning.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Robust Visual Mapping: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RTAB-Map successfully extracted features and detected global loop closures throughout the 80 m corridor, eliminating phantom obstacles.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336000" y="33588000"/>
            <a:ext cx="14220000" cy="6083999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31750">
            <a:solidFill>
              <a:srgbClr val="0B254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15336000" y="33588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B2545"/>
          </a:solidFill>
          <a:ln>
            <a:noFill/>
          </a:ln>
        </p:spPr>
        <p:txBody>
          <a:bodyPr rtlCol="0" anchor="ctr" wrap="none" lIns="288000" rIns="28800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6. Conclusion &amp; Future Outlook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52000" y="34524000"/>
            <a:ext cx="13787999" cy="493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0B2545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Practical Virtual Sandbox: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Demonstrates that pairing a photorealistic 3DGS digital twin with RL-generated gait dynamics provides an effective, risk-free testbed for visual quadruped navigation.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rgbClr val="0B2545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Decoupled Edge Efficiency: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Separating simulation-based parameter discovery from onboard execution enables lightweight real-world deployment on resource-constrained Jetson platforms.</a:t>
            </a:r>
          </a:p>
          <a:p>
            <a:pPr algn="l" marL="288000" indent="-288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ct val="85000"/>
              <a:buFont typeface="Arial"/>
              <a:buChar char="■"/>
            </a:pPr>
            <a:r>
              <a:rPr sz="28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Future Research:</a:t>
            </a:r>
            <a:r>
              <a:rPr sz="28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Expanding from static corridors to dynamic obstacle avoidance benchmarks, multi-floor terrain transitions, and direct neural policy deployment.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000" y="40176000"/>
            <a:ext cx="28835999" cy="288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0000" y="40248000"/>
            <a:ext cx="26711999" cy="172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References: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 [1] B. Kerbl et al., “3D Gaussian splatting for real-time radiance field rendering,”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ACM TOG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2023.  [2] M. Labbé &amp; F. Michaud, “RTAB-Map as an open-source lidar and visual SLAM library,”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arXiv:2403.06341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2024.  [3] S. Macenski et al., “Robot Operating System 2: Design and architecture,”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Science Robotics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2022.  [4] S. Zhu et al., “VR-Robo: Real-to-sim-to-real for visual robot navigation,”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IEEE RA-L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2025.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Acknowledgement:</a:t>
            </a:r>
            <a:r>
              <a:rPr sz="22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 This research was supported by the National Research Foundation of Korea (NRF) grant funded by the Korean government (MSIT) (No. RS-2025-24683458).</a:t>
            </a:r>
          </a:p>
        </p:txBody>
      </p:sp>
      <p:pic>
        <p:nvPicPr>
          <p:cNvPr id="54" name="Picture 53" descr="qr_rep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71999" y="40248000"/>
            <a:ext cx="1584000" cy="1584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7791999" y="41850000"/>
            <a:ext cx="1944000" cy="2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GitHub Repo &amp; Code</a:t>
            </a:r>
          </a:p>
        </p:txBody>
      </p:sp>
    </p:spTree>
    <p:extLst>
      <p:ext uri="{BB962C8B-B14F-4D97-AF65-F5344CB8AC3E}">
        <p14:creationId xmlns:p14="http://schemas.microsoft.com/office/powerpoint/2010/main" val="111231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117</Words>
  <Application>Microsoft Office PowerPoint</Application>
  <PresentationFormat>사용자 지정</PresentationFormat>
  <Paragraphs>16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ICCAS ICROS</cp:lastModifiedBy>
  <cp:revision>14</cp:revision>
  <dcterms:created xsi:type="dcterms:W3CDTF">2020-09-22T08:31:15Z</dcterms:created>
  <dcterms:modified xsi:type="dcterms:W3CDTF">2026-01-06T07:13:13Z</dcterms:modified>
</cp:coreProperties>
</file>