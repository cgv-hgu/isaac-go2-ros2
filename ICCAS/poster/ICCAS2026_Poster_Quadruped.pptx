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</p:sldIdLst>
  <p:sldSz cx="30275213" cy="424799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" d="100"/>
          <a:sy n="15" d="100"/>
        </p:scale>
        <p:origin x="147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6952156"/>
            <a:ext cx="25733931" cy="14789303"/>
          </a:xfrm>
        </p:spPr>
        <p:txBody>
          <a:bodyPr anchor="b"/>
          <a:lstStyle>
            <a:lvl1pPr algn="ctr">
              <a:defRPr sz="1986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22311791"/>
            <a:ext cx="22706410" cy="10256143"/>
          </a:xfrm>
        </p:spPr>
        <p:txBody>
          <a:bodyPr/>
          <a:lstStyle>
            <a:lvl1pPr marL="0" indent="0" algn="ctr">
              <a:buNone/>
              <a:defRPr sz="7946"/>
            </a:lvl1pPr>
            <a:lvl2pPr marL="1513743" indent="0" algn="ctr">
              <a:buNone/>
              <a:defRPr sz="6622"/>
            </a:lvl2pPr>
            <a:lvl3pPr marL="3027487" indent="0" algn="ctr">
              <a:buNone/>
              <a:defRPr sz="5960"/>
            </a:lvl3pPr>
            <a:lvl4pPr marL="4541230" indent="0" algn="ctr">
              <a:buNone/>
              <a:defRPr sz="5297"/>
            </a:lvl4pPr>
            <a:lvl5pPr marL="6054974" indent="0" algn="ctr">
              <a:buNone/>
              <a:defRPr sz="5297"/>
            </a:lvl5pPr>
            <a:lvl6pPr marL="7568717" indent="0" algn="ctr">
              <a:buNone/>
              <a:defRPr sz="5297"/>
            </a:lvl6pPr>
            <a:lvl7pPr marL="9082461" indent="0" algn="ctr">
              <a:buNone/>
              <a:defRPr sz="5297"/>
            </a:lvl7pPr>
            <a:lvl8pPr marL="10596204" indent="0" algn="ctr">
              <a:buNone/>
              <a:defRPr sz="5297"/>
            </a:lvl8pPr>
            <a:lvl9pPr marL="12109948" indent="0" algn="ctr">
              <a:buNone/>
              <a:defRPr sz="5297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96405-FC94-4A51-AF54-A6A424E5C0BA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5EEE9-99B2-42EF-B93B-C2ADC317DD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5847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96405-FC94-4A51-AF54-A6A424E5C0BA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5EEE9-99B2-42EF-B93B-C2ADC317DD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2133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10590491"/>
            <a:ext cx="26112371" cy="17670461"/>
          </a:xfrm>
        </p:spPr>
        <p:txBody>
          <a:bodyPr anchor="b"/>
          <a:lstStyle>
            <a:lvl1pPr>
              <a:defRPr sz="1986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28428121"/>
            <a:ext cx="26112371" cy="9292478"/>
          </a:xfrm>
        </p:spPr>
        <p:txBody>
          <a:bodyPr/>
          <a:lstStyle>
            <a:lvl1pPr marL="0" indent="0">
              <a:buNone/>
              <a:defRPr sz="7946">
                <a:solidFill>
                  <a:schemeClr val="tx1"/>
                </a:solidFill>
              </a:defRPr>
            </a:lvl1pPr>
            <a:lvl2pPr marL="1513743" indent="0">
              <a:buNone/>
              <a:defRPr sz="6622">
                <a:solidFill>
                  <a:schemeClr val="tx1">
                    <a:tint val="75000"/>
                  </a:schemeClr>
                </a:solidFill>
              </a:defRPr>
            </a:lvl2pPr>
            <a:lvl3pPr marL="3027487" indent="0">
              <a:buNone/>
              <a:defRPr sz="5960">
                <a:solidFill>
                  <a:schemeClr val="tx1">
                    <a:tint val="75000"/>
                  </a:schemeClr>
                </a:solidFill>
              </a:defRPr>
            </a:lvl3pPr>
            <a:lvl4pPr marL="4541230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4pPr>
            <a:lvl5pPr marL="6054974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5pPr>
            <a:lvl6pPr marL="7568717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6pPr>
            <a:lvl7pPr marL="9082461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7pPr>
            <a:lvl8pPr marL="10596204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8pPr>
            <a:lvl9pPr marL="12109948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96405-FC94-4A51-AF54-A6A424E5C0BA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5EEE9-99B2-42EF-B93B-C2ADC317DD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9735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11308310"/>
            <a:ext cx="12866966" cy="2695311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11308310"/>
            <a:ext cx="12866966" cy="2695311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96405-FC94-4A51-AF54-A6A424E5C0BA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5EEE9-99B2-42EF-B93B-C2ADC317DD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936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261671"/>
            <a:ext cx="26112371" cy="821082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10413482"/>
            <a:ext cx="12807832" cy="5103486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15516968"/>
            <a:ext cx="12807832" cy="2282312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10413482"/>
            <a:ext cx="12870909" cy="5103486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15516968"/>
            <a:ext cx="12870909" cy="2282312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96405-FC94-4A51-AF54-A6A424E5C0BA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5EEE9-99B2-42EF-B93B-C2ADC317DD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72271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96405-FC94-4A51-AF54-A6A424E5C0BA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5EEE9-99B2-42EF-B93B-C2ADC317DD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3927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96405-FC94-4A51-AF54-A6A424E5C0BA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5EEE9-99B2-42EF-B93B-C2ADC317DD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88471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31994"/>
            <a:ext cx="9764544" cy="9911980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6116330"/>
            <a:ext cx="15326827" cy="30188272"/>
          </a:xfrm>
        </p:spPr>
        <p:txBody>
          <a:bodyPr/>
          <a:lstStyle>
            <a:lvl1pPr>
              <a:defRPr sz="10595"/>
            </a:lvl1pPr>
            <a:lvl2pPr>
              <a:defRPr sz="9271"/>
            </a:lvl2pPr>
            <a:lvl3pPr>
              <a:defRPr sz="7946"/>
            </a:lvl3pPr>
            <a:lvl4pPr>
              <a:defRPr sz="6622"/>
            </a:lvl4pPr>
            <a:lvl5pPr>
              <a:defRPr sz="6622"/>
            </a:lvl5pPr>
            <a:lvl6pPr>
              <a:defRPr sz="6622"/>
            </a:lvl6pPr>
            <a:lvl7pPr>
              <a:defRPr sz="6622"/>
            </a:lvl7pPr>
            <a:lvl8pPr>
              <a:defRPr sz="6622"/>
            </a:lvl8pPr>
            <a:lvl9pPr>
              <a:defRPr sz="6622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743974"/>
            <a:ext cx="9764544" cy="23609788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96405-FC94-4A51-AF54-A6A424E5C0BA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5EEE9-99B2-42EF-B93B-C2ADC317DD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1411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31994"/>
            <a:ext cx="9764544" cy="9911980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6116330"/>
            <a:ext cx="15326827" cy="30188272"/>
          </a:xfrm>
        </p:spPr>
        <p:txBody>
          <a:bodyPr anchor="t"/>
          <a:lstStyle>
            <a:lvl1pPr marL="0" indent="0">
              <a:buNone/>
              <a:defRPr sz="10595"/>
            </a:lvl1pPr>
            <a:lvl2pPr marL="1513743" indent="0">
              <a:buNone/>
              <a:defRPr sz="9271"/>
            </a:lvl2pPr>
            <a:lvl3pPr marL="3027487" indent="0">
              <a:buNone/>
              <a:defRPr sz="7946"/>
            </a:lvl3pPr>
            <a:lvl4pPr marL="4541230" indent="0">
              <a:buNone/>
              <a:defRPr sz="6622"/>
            </a:lvl4pPr>
            <a:lvl5pPr marL="6054974" indent="0">
              <a:buNone/>
              <a:defRPr sz="6622"/>
            </a:lvl5pPr>
            <a:lvl6pPr marL="7568717" indent="0">
              <a:buNone/>
              <a:defRPr sz="6622"/>
            </a:lvl6pPr>
            <a:lvl7pPr marL="9082461" indent="0">
              <a:buNone/>
              <a:defRPr sz="6622"/>
            </a:lvl7pPr>
            <a:lvl8pPr marL="10596204" indent="0">
              <a:buNone/>
              <a:defRPr sz="6622"/>
            </a:lvl8pPr>
            <a:lvl9pPr marL="12109948" indent="0">
              <a:buNone/>
              <a:defRPr sz="6622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743974"/>
            <a:ext cx="9764544" cy="23609788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96405-FC94-4A51-AF54-A6A424E5C0BA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5EEE9-99B2-42EF-B93B-C2ADC317DD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28447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96405-FC94-4A51-AF54-A6A424E5C0BA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5EEE9-99B2-42EF-B93B-C2ADC317DD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18435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2261662"/>
            <a:ext cx="6528093" cy="35999763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2261662"/>
            <a:ext cx="19205838" cy="35999763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96405-FC94-4A51-AF54-A6A424E5C0BA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5EEE9-99B2-42EF-B93B-C2ADC317DD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93906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2261671"/>
            <a:ext cx="26112371" cy="82108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11308310"/>
            <a:ext cx="26112371" cy="26953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39372595"/>
            <a:ext cx="6811923" cy="226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E96405-FC94-4A51-AF54-A6A424E5C0BA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39372595"/>
            <a:ext cx="10217884" cy="226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39372595"/>
            <a:ext cx="6811923" cy="226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C5EEE9-99B2-42EF-B93B-C2ADC317DD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5087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027487" rtl="0" eaLnBrk="1" latinLnBrk="1" hangingPunct="1">
        <a:lnSpc>
          <a:spcPct val="90000"/>
        </a:lnSpc>
        <a:spcBef>
          <a:spcPct val="0"/>
        </a:spcBef>
        <a:buNone/>
        <a:defRPr sz="145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872" indent="-756872" algn="l" defTabSz="3027487" rtl="0" eaLnBrk="1" latinLnBrk="1" hangingPunct="1">
        <a:lnSpc>
          <a:spcPct val="90000"/>
        </a:lnSpc>
        <a:spcBef>
          <a:spcPts val="3311"/>
        </a:spcBef>
        <a:buFont typeface="Arial" panose="020B0604020202020204" pitchFamily="34" charset="0"/>
        <a:buChar char="•"/>
        <a:defRPr sz="9271" kern="1200">
          <a:solidFill>
            <a:schemeClr val="tx1"/>
          </a:solidFill>
          <a:latin typeface="+mn-lt"/>
          <a:ea typeface="+mn-ea"/>
          <a:cs typeface="+mn-cs"/>
        </a:defRPr>
      </a:lvl1pPr>
      <a:lvl2pPr marL="2270615" indent="-756872" algn="l" defTabSz="3027487" rtl="0" eaLnBrk="1" latinLnBrk="1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2pPr>
      <a:lvl3pPr marL="3784359" indent="-756872" algn="l" defTabSz="3027487" rtl="0" eaLnBrk="1" latinLnBrk="1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6622" kern="1200">
          <a:solidFill>
            <a:schemeClr val="tx1"/>
          </a:solidFill>
          <a:latin typeface="+mn-lt"/>
          <a:ea typeface="+mn-ea"/>
          <a:cs typeface="+mn-cs"/>
        </a:defRPr>
      </a:lvl3pPr>
      <a:lvl4pPr marL="5298102" indent="-756872" algn="l" defTabSz="3027487" rtl="0" eaLnBrk="1" latinLnBrk="1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811846" indent="-756872" algn="l" defTabSz="3027487" rtl="0" eaLnBrk="1" latinLnBrk="1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8325589" indent="-756872" algn="l" defTabSz="3027487" rtl="0" eaLnBrk="1" latinLnBrk="1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839333" indent="-756872" algn="l" defTabSz="3027487" rtl="0" eaLnBrk="1" latinLnBrk="1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1353076" indent="-756872" algn="l" defTabSz="3027487" rtl="0" eaLnBrk="1" latinLnBrk="1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866820" indent="-756872" algn="l" defTabSz="3027487" rtl="0" eaLnBrk="1" latinLnBrk="1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7487" rtl="0" eaLnBrk="1" latinLnBrk="1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1pPr>
      <a:lvl2pPr marL="1513743" algn="l" defTabSz="3027487" rtl="0" eaLnBrk="1" latinLnBrk="1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3027487" algn="l" defTabSz="3027487" rtl="0" eaLnBrk="1" latinLnBrk="1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3pPr>
      <a:lvl4pPr marL="4541230" algn="l" defTabSz="3027487" rtl="0" eaLnBrk="1" latinLnBrk="1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054974" algn="l" defTabSz="3027487" rtl="0" eaLnBrk="1" latinLnBrk="1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7568717" algn="l" defTabSz="3027487" rtl="0" eaLnBrk="1" latinLnBrk="1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082461" algn="l" defTabSz="3027487" rtl="0" eaLnBrk="1" latinLnBrk="1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0596204" algn="l" defTabSz="3027487" rtl="0" eaLnBrk="1" latinLnBrk="1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109948" algn="l" defTabSz="3027487" rtl="0" eaLnBrk="1" latinLnBrk="1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0275999" cy="4140000"/>
          </a:xfrm>
          <a:prstGeom prst="rect">
            <a:avLst/>
          </a:prstGeom>
          <a:gradFill rotWithShape="1">
            <a:gsLst>
              <a:gs pos="0">
                <a:srgbClr val="071A33"/>
              </a:gs>
              <a:gs pos="100000">
                <a:srgbClr val="1565C0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275999" cy="468000"/>
          </a:xfrm>
          <a:prstGeom prst="rect">
            <a:avLst/>
          </a:prstGeom>
          <a:solidFill>
            <a:srgbClr val="07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20000" y="79200"/>
            <a:ext cx="9411840" cy="478080"/>
          </a:xfrm>
          <a:prstGeom prst="roundRect">
            <a:avLst>
              <a:gd name="adj" fmla="val 40000"/>
            </a:avLst>
          </a:prstGeom>
          <a:solidFill>
            <a:srgbClr val="F59E0B"/>
          </a:solidFill>
          <a:ln>
            <a:noFill/>
          </a:ln>
        </p:spPr>
        <p:txBody>
          <a:bodyPr rtlCol="0" anchor="ctr" wrap="non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71A33"/>
                </a:solidFill>
                <a:latin typeface="Arial"/>
                <a:ea typeface="Arial"/>
                <a:cs typeface="Arial"/>
              </a:rPr>
              <a:t>ICCAS 2026 Poster  [ Session Code [TuP...]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20000" y="79200"/>
            <a:ext cx="16235999" cy="32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BFDBFE"/>
                </a:solidFill>
                <a:latin typeface="Arial"/>
                <a:ea typeface="Arial"/>
                <a:cs typeface="Arial"/>
              </a:rPr>
              <a:t>Computer Graphics and Vision Lab (CGV)  ·  Handong Global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576000"/>
            <a:ext cx="28835999" cy="208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6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Bridging the Sim-to-Real Gap in Quadrupedal Visual Navigation via 3D Gaussian Splatting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736000"/>
            <a:ext cx="28835999" cy="576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3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Minseok Lee</a:t>
            </a:r>
            <a:r>
              <a:rPr sz="3800" b="1" i="0" baseline="3000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r>
              <a:rPr sz="3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,  Seongyu Han</a:t>
            </a:r>
            <a:r>
              <a:rPr sz="3800" b="1" i="0" baseline="3000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r>
              <a:rPr sz="3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,  Heejae Moon</a:t>
            </a:r>
            <a:r>
              <a:rPr sz="3800" b="1" i="0" baseline="3000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r>
              <a:rPr sz="3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,  and  Sung Soo Hwang</a:t>
            </a:r>
            <a:r>
              <a:rPr sz="3800" b="1" i="0" baseline="30000">
                <a:solidFill>
                  <a:srgbClr val="FFFFFF"/>
                </a:solidFill>
                <a:latin typeface="Arial"/>
                <a:ea typeface="Arial"/>
                <a:cs typeface="Arial"/>
              </a:rPr>
              <a:t>1*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3384000"/>
            <a:ext cx="28835999" cy="43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baseline="30000">
                <a:solidFill>
                  <a:srgbClr val="BFDBFE"/>
                </a:solidFill>
                <a:latin typeface="Arial"/>
                <a:ea typeface="Arial"/>
                <a:cs typeface="Arial"/>
              </a:rPr>
              <a:t>1</a:t>
            </a:r>
            <a:r>
              <a:rPr sz="2400" b="0" i="0">
                <a:solidFill>
                  <a:srgbClr val="BFDBFE"/>
                </a:solidFill>
                <a:latin typeface="Arial"/>
                <a:ea typeface="Arial"/>
                <a:cs typeface="Arial"/>
              </a:rPr>
              <a:t>School of Artificial Intelligence, Computer and Electrical Engineering, Handong Global University, Pohang 37554, Korea   ·   </a:t>
            </a:r>
            <a:r>
              <a:rPr sz="2400" b="0" i="0" baseline="30000">
                <a:solidFill>
                  <a:srgbClr val="BFDBFE"/>
                </a:solidFill>
                <a:latin typeface="Arial"/>
                <a:ea typeface="Arial"/>
                <a:cs typeface="Arial"/>
              </a:rPr>
              <a:t>*</a:t>
            </a:r>
            <a:r>
              <a:rPr sz="2400" b="0" i="0">
                <a:solidFill>
                  <a:srgbClr val="BFDBFE"/>
                </a:solidFill>
                <a:latin typeface="Arial"/>
                <a:ea typeface="Arial"/>
                <a:cs typeface="Arial"/>
              </a:rPr>
              <a:t>sshwang@handong.edu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140000"/>
            <a:ext cx="30275999" cy="12599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20000" y="4428000"/>
            <a:ext cx="28835999" cy="11232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31750">
            <a:solidFill>
              <a:srgbClr val="0B25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720000" y="4428000"/>
            <a:ext cx="28835999" cy="720000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0B2545"/>
          </a:solidFill>
          <a:ln>
            <a:noFill/>
          </a:ln>
        </p:spPr>
        <p:txBody>
          <a:bodyPr rtlCol="0" anchor="ctr" wrap="none" lIns="288000" rIns="28800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Sim-to-Real Quadrupedal Visual Navigation Architecture</a:t>
            </a:r>
          </a:p>
        </p:txBody>
      </p:sp>
      <p:pic>
        <p:nvPicPr>
          <p:cNvPr id="12" name="Picture 11" descr="system_overview_t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999" y="5400000"/>
            <a:ext cx="26820000" cy="96277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6000" y="15081741"/>
            <a:ext cx="28403999" cy="3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475569"/>
                </a:solidFill>
                <a:latin typeface="Arial"/>
                <a:ea typeface="Arial"/>
                <a:cs typeface="Arial"/>
              </a:rPr>
              <a:t>Key idea:</a:t>
            </a:r>
            <a:r>
              <a:rPr sz="2400" b="0" i="0">
                <a:solidFill>
                  <a:srgbClr val="475569"/>
                </a:solidFill>
                <a:latin typeface="Arial"/>
                <a:ea typeface="Arial"/>
                <a:cs typeface="Arial"/>
              </a:rPr>
              <a:t> RTAB-Map &amp; Nav2 parameters tuned in the photorealistic 3DGS twin under RL gait bobbing (B) migrate directly to the physical Go2 (C) without retuning.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0000" y="15947999"/>
            <a:ext cx="14220000" cy="5040000"/>
          </a:xfrm>
          <a:prstGeom prst="roundRect">
            <a:avLst>
              <a:gd name="adj" fmla="val 3500"/>
            </a:avLst>
          </a:prstGeom>
          <a:solidFill>
            <a:srgbClr val="F8FAFC"/>
          </a:solidFill>
          <a:ln w="31750">
            <a:solidFill>
              <a:srgbClr val="3341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720000" y="15947999"/>
            <a:ext cx="14220000" cy="720000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334155"/>
          </a:solidFill>
          <a:ln>
            <a:noFill/>
          </a:ln>
        </p:spPr>
        <p:txBody>
          <a:bodyPr rtlCol="0" anchor="ctr" wrap="none" lIns="288000" rIns="28800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1. Motivation &amp; Sim-to-Real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6000" y="16884000"/>
            <a:ext cx="13787999" cy="388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buClr>
                <a:srgbClr val="334155"/>
              </a:buClr>
              <a:buSzPct val="85000"/>
              <a:buFont typeface="Arial"/>
              <a:buChar char="■"/>
            </a:pPr>
            <a:r>
              <a:rPr sz="26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LiDAR-Free Quadruped Autonomy:</a:t>
            </a:r>
            <a:r>
              <a:rPr sz="26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Single RGB-D camera replaces heavy, power-hungry LiDAR on legged robots.</a:t>
            </a:r>
          </a:p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buClr>
                <a:srgbClr val="334155"/>
              </a:buClr>
              <a:buSzPct val="85000"/>
              <a:buFont typeface="Arial"/>
              <a:buChar char="■"/>
            </a:pPr>
            <a:r>
              <a:rPr sz="2600" b="1" i="0">
                <a:solidFill>
                  <a:srgbClr val="E66A00"/>
                </a:solidFill>
                <a:latin typeface="Arial"/>
                <a:ea typeface="Arial"/>
                <a:cs typeface="Arial"/>
              </a:rPr>
              <a:t>Perceptual Sim-to-Real Gap:</a:t>
            </a:r>
            <a:r>
              <a:rPr sz="26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Simulators lack photorealistic textures, causing V-SLAM feature tracking to fail in real environments.</a:t>
            </a:r>
          </a:p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buClr>
                <a:srgbClr val="334155"/>
              </a:buClr>
              <a:buSzPct val="85000"/>
              <a:buFont typeface="Arial"/>
              <a:buChar char="■"/>
            </a:pPr>
            <a:r>
              <a:rPr sz="2600" b="1" i="0">
                <a:solidFill>
                  <a:srgbClr val="E66A00"/>
                </a:solidFill>
                <a:latin typeface="Arial"/>
                <a:ea typeface="Arial"/>
                <a:cs typeface="Arial"/>
              </a:rPr>
              <a:t>Dynamic Gait Bobbing Noise:</a:t>
            </a:r>
            <a:r>
              <a:rPr sz="26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Locomotion induces periodic camera jitter (pitch/roll/vertical), generating severe motion blur and false phantom obstacles.</a:t>
            </a:r>
          </a:p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ct val="85000"/>
              <a:buFont typeface="Arial"/>
              <a:buChar char="■"/>
            </a:pPr>
            <a:r>
              <a:rPr sz="26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Hardware Safety Bottleneck:</a:t>
            </a:r>
            <a:r>
              <a:rPr sz="26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Physical trial-and-error tuning carries high collision risks and severe battery runtime limits.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0000" y="21258000"/>
            <a:ext cx="14220000" cy="8856000"/>
          </a:xfrm>
          <a:prstGeom prst="roundRect">
            <a:avLst>
              <a:gd name="adj" fmla="val 3500"/>
            </a:avLst>
          </a:prstGeom>
          <a:solidFill>
            <a:srgbClr val="F0F6FE"/>
          </a:solidFill>
          <a:ln w="31750">
            <a:solidFill>
              <a:srgbClr val="1565C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720000" y="21258000"/>
            <a:ext cx="14220000" cy="720000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1565C0"/>
          </a:solidFill>
          <a:ln>
            <a:noFill/>
          </a:ln>
        </p:spPr>
        <p:txBody>
          <a:bodyPr rtlCol="0" anchor="ctr" wrap="none" lIns="288000" rIns="28800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2. 3DGS Digital Twin &amp; Collision Mesh</a:t>
            </a:r>
          </a:p>
        </p:txBody>
      </p:sp>
      <p:pic>
        <p:nvPicPr>
          <p:cNvPr id="19" name="Picture 18" descr="3dgs_mesh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9999" y="22194000"/>
            <a:ext cx="13140000" cy="5010791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1385999" y="22284000"/>
            <a:ext cx="3407040" cy="402480"/>
          </a:xfrm>
          <a:prstGeom prst="roundRect">
            <a:avLst>
              <a:gd name="adj" fmla="val 40000"/>
            </a:avLst>
          </a:prstGeom>
          <a:solidFill>
            <a:srgbClr val="334155"/>
          </a:solidFill>
          <a:ln>
            <a:noFill/>
          </a:ln>
        </p:spPr>
        <p:txBody>
          <a:bodyPr rtlCol="0" anchor="ctr" wrap="non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fVDB Collision Mesh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6000" y="22284000"/>
            <a:ext cx="4556160" cy="402480"/>
          </a:xfrm>
          <a:prstGeom prst="roundRect">
            <a:avLst>
              <a:gd name="adj" fmla="val 40000"/>
            </a:avLst>
          </a:prstGeom>
          <a:solidFill>
            <a:srgbClr val="1565C0"/>
          </a:solidFill>
          <a:ln>
            <a:noFill/>
          </a:ln>
        </p:spPr>
        <p:txBody>
          <a:bodyPr rtlCol="0" anchor="ctr" wrap="non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3DGS Photorealistic Render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6000" y="27312791"/>
            <a:ext cx="13787999" cy="25852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buClr>
                <a:srgbClr val="1565C0"/>
              </a:buClr>
              <a:buSzPct val="85000"/>
              <a:buFont typeface="Arial"/>
              <a:buChar char="■"/>
            </a:pPr>
            <a:r>
              <a:rPr sz="24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Offline Digital Twin Modeling:</a:t>
            </a:r>
            <a:r>
              <a:rPr sz="24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Reconstructed from DSLR images via COLMAP Structure-from-Motion (SfM) and 3D Gaussian Splatting (3DGS) exported to USDZ format.</a:t>
            </a:r>
          </a:p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buClr>
                <a:srgbClr val="1565C0"/>
              </a:buClr>
              <a:buSzPct val="85000"/>
              <a:buFont typeface="Arial"/>
              <a:buChar char="■"/>
            </a:pPr>
            <a:r>
              <a:rPr sz="24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NVIDIA fVDB Sparse Volumetric Mesh:</a:t>
            </a:r>
            <a:r>
              <a:rPr sz="24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Integrated into Isaac Sim 5.1.0 to compute accurate contact geometry and collision boundaries for quadruped foot placement.</a:t>
            </a:r>
          </a:p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ct val="85000"/>
              <a:buFont typeface="Arial"/>
              <a:buChar char="■"/>
            </a:pPr>
            <a:r>
              <a:rPr sz="24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Sensor Profile Alignment:</a:t>
            </a:r>
            <a:r>
              <a:rPr sz="24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Virtual camera FOV, resolution (640x480), and optical center strictly match the physical Intel RealSense D435i sensor to eliminate hardware discrepancies.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0000" y="30384000"/>
            <a:ext cx="14220000" cy="8856000"/>
          </a:xfrm>
          <a:prstGeom prst="roundRect">
            <a:avLst>
              <a:gd name="adj" fmla="val 3500"/>
            </a:avLst>
          </a:prstGeom>
          <a:solidFill>
            <a:srgbClr val="F0F6FE"/>
          </a:solidFill>
          <a:ln w="31750">
            <a:solidFill>
              <a:srgbClr val="1565C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 Same Side Corner Rectangle 23"/>
          <p:cNvSpPr/>
          <p:nvPr/>
        </p:nvSpPr>
        <p:spPr>
          <a:xfrm>
            <a:off x="720000" y="30384000"/>
            <a:ext cx="14220000" cy="720000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1565C0"/>
          </a:solidFill>
          <a:ln>
            <a:noFill/>
          </a:ln>
        </p:spPr>
        <p:txBody>
          <a:bodyPr rtlCol="0" anchor="ctr" wrap="none" lIns="288000" rIns="28800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3. Virtual Validation &amp; Replanning</a:t>
            </a:r>
          </a:p>
        </p:txBody>
      </p:sp>
      <p:pic>
        <p:nvPicPr>
          <p:cNvPr id="25" name="Picture 24" descr="sim_nav2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000" y="31320000"/>
            <a:ext cx="13787999" cy="4258217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1062000" y="31410000"/>
            <a:ext cx="4392000" cy="402480"/>
          </a:xfrm>
          <a:prstGeom prst="roundRect">
            <a:avLst>
              <a:gd name="adj" fmla="val 40000"/>
            </a:avLst>
          </a:prstGeom>
          <a:solidFill>
            <a:srgbClr val="1565C0"/>
          </a:solidFill>
          <a:ln>
            <a:noFill/>
          </a:ln>
        </p:spPr>
        <p:txBody>
          <a:bodyPr rtlCol="0" anchor="ctr" wrap="non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Isaac Sim Quadruped Model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57283" y="31410000"/>
            <a:ext cx="5376960" cy="402480"/>
          </a:xfrm>
          <a:prstGeom prst="roundRect">
            <a:avLst>
              <a:gd name="adj" fmla="val 40000"/>
            </a:avLst>
          </a:prstGeom>
          <a:solidFill>
            <a:srgbClr val="0B2545"/>
          </a:solidFill>
          <a:ln>
            <a:noFill/>
          </a:ln>
        </p:spPr>
        <p:txBody>
          <a:bodyPr rtlCol="0" anchor="ctr" wrap="non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RViz Nav2 Costmap &amp; Global Path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6000" y="35686217"/>
            <a:ext cx="13787999" cy="333778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buClr>
                <a:srgbClr val="1565C0"/>
              </a:buClr>
              <a:buSzPct val="85000"/>
              <a:buFont typeface="Arial"/>
              <a:buChar char="■"/>
            </a:pPr>
            <a:r>
              <a:rPr sz="24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Gait Oscillation Emulation:</a:t>
            </a:r>
            <a:r>
              <a:rPr sz="24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RL policy (PPO in Isaac Lab 2.3.2) trained with domain randomization (mass ±3kg, friction 0.6–0.8) reproduces realistic camera bobbing dynamics.</a:t>
            </a:r>
          </a:p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buClr>
                <a:srgbClr val="1565C0"/>
              </a:buClr>
              <a:buSzPct val="85000"/>
              <a:buFont typeface="Arial"/>
              <a:buChar char="■"/>
            </a:pPr>
            <a:r>
              <a:rPr sz="24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RTAB-Map V-SLAM Optimization:</a:t>
            </a:r>
            <a:r>
              <a:rPr sz="24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Point cloud registration and loop closure thresholds tuned to withstand simulated locomotion pitch/roll oscillations without tracking loss.</a:t>
            </a:r>
          </a:p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ct val="85000"/>
              <a:buFont typeface="Arial"/>
              <a:buChar char="■"/>
            </a:pPr>
            <a:r>
              <a:rPr sz="25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Nav2 Local Replanning:</a:t>
            </a:r>
            <a:r>
              <a:rPr sz="25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DWB local planner dynamically computes collision-free trajectories around inserted obstacles in the 80 m × 2.5 m digital corridor.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336000" y="15947999"/>
            <a:ext cx="14220000" cy="9504000"/>
          </a:xfrm>
          <a:prstGeom prst="roundRect">
            <a:avLst>
              <a:gd name="adj" fmla="val 3500"/>
            </a:avLst>
          </a:prstGeom>
          <a:solidFill>
            <a:srgbClr val="F0FDF4"/>
          </a:solidFill>
          <a:ln w="31750">
            <a:solidFill>
              <a:srgbClr val="1665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 Same Side Corner Rectangle 29"/>
          <p:cNvSpPr/>
          <p:nvPr/>
        </p:nvSpPr>
        <p:spPr>
          <a:xfrm>
            <a:off x="15336000" y="15947999"/>
            <a:ext cx="14220000" cy="720000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166534"/>
          </a:solidFill>
          <a:ln>
            <a:noFill/>
          </a:ln>
        </p:spPr>
        <p:txBody>
          <a:bodyPr rtlCol="0" anchor="ctr" wrap="none" lIns="288000" rIns="28800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4. Physical Deployment (Unitree Go2)</a:t>
            </a:r>
          </a:p>
        </p:txBody>
      </p:sp>
      <p:pic>
        <p:nvPicPr>
          <p:cNvPr id="31" name="Picture 30" descr="real_robot_tigh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23844" y="16884000"/>
            <a:ext cx="5637446" cy="5760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15813844" y="16974000"/>
            <a:ext cx="3553920" cy="387360"/>
          </a:xfrm>
          <a:prstGeom prst="roundRect">
            <a:avLst>
              <a:gd name="adj" fmla="val 40000"/>
            </a:avLst>
          </a:prstGeom>
          <a:solidFill>
            <a:srgbClr val="166534"/>
          </a:solidFill>
          <a:ln>
            <a:noFill/>
          </a:ln>
        </p:spPr>
        <p:txBody>
          <a:bodyPr rtlCol="0" anchor="ctr" wrap="non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Go2 + D435i + Orin NX</a:t>
            </a:r>
          </a:p>
        </p:txBody>
      </p:sp>
      <p:pic>
        <p:nvPicPr>
          <p:cNvPr id="33" name="Picture 32" descr="map3d_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541290" y="16884000"/>
            <a:ext cx="6470808" cy="576000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21631290" y="16974000"/>
            <a:ext cx="3864960" cy="387360"/>
          </a:xfrm>
          <a:prstGeom prst="roundRect">
            <a:avLst>
              <a:gd name="adj" fmla="val 40000"/>
            </a:avLst>
          </a:prstGeom>
          <a:solidFill>
            <a:srgbClr val="166534"/>
          </a:solidFill>
          <a:ln>
            <a:noFill/>
          </a:ln>
        </p:spPr>
        <p:txBody>
          <a:bodyPr rtlCol="0" anchor="ctr" wrap="non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RTAB-Map 3D Point Cloud</a:t>
            </a:r>
          </a:p>
        </p:txBody>
      </p:sp>
      <p:pic>
        <p:nvPicPr>
          <p:cNvPr id="35" name="Picture 34" descr="map2d_crop_x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92099" y="17244000"/>
            <a:ext cx="976056" cy="5400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28397887" y="16920000"/>
            <a:ext cx="564480" cy="357120"/>
          </a:xfrm>
          <a:prstGeom prst="roundRect">
            <a:avLst>
              <a:gd name="adj" fmla="val 40000"/>
            </a:avLst>
          </a:prstGeom>
          <a:solidFill>
            <a:srgbClr val="166534"/>
          </a:solidFill>
          <a:ln>
            <a:noFill/>
          </a:ln>
        </p:spPr>
        <p:txBody>
          <a:bodyPr rtlCol="0" anchor="ctr" wrap="non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52000" y="22788000"/>
            <a:ext cx="13787999" cy="24479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Clr>
                <a:srgbClr val="166534"/>
              </a:buClr>
              <a:buSzPct val="85000"/>
              <a:buFont typeface="Arial"/>
              <a:buChar char="■"/>
            </a:pPr>
            <a:r>
              <a:rPr sz="25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Fully Onboard Edge Computing:</a:t>
            </a:r>
            <a:r>
              <a:rPr sz="25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Intel RealSense D435i connected via USB 3.0 to an NVIDIA Jetson Orin NX, executing RTAB-Map and Nav2 autonomously in real time.</a:t>
            </a:r>
          </a:p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ct val="85000"/>
              <a:buFont typeface="Arial"/>
              <a:buChar char="■"/>
            </a:pPr>
            <a:r>
              <a:rPr sz="25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Decoupled Locomotion Control:</a:t>
            </a:r>
            <a:r>
              <a:rPr sz="25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To conserve edge compute for SLAM, the heavy RL policy is bypassed on physical hardware; Nav2 velocity commands route directly to the built-in Sport API via a lightweight ROS 2 bridge.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5336000" y="25721999"/>
            <a:ext cx="14220000" cy="8208000"/>
          </a:xfrm>
          <a:prstGeom prst="roundRect">
            <a:avLst>
              <a:gd name="adj" fmla="val 3500"/>
            </a:avLst>
          </a:prstGeom>
          <a:solidFill>
            <a:srgbClr val="F0FDF4"/>
          </a:solidFill>
          <a:ln w="31750">
            <a:solidFill>
              <a:srgbClr val="1665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336000" y="25721999"/>
            <a:ext cx="14220000" cy="720000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166534"/>
          </a:solidFill>
          <a:ln>
            <a:noFill/>
          </a:ln>
        </p:spPr>
        <p:txBody>
          <a:bodyPr rtlCol="0" anchor="ctr" wrap="none" lIns="288000" rIns="28800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5. Experimental Results &amp; Verification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552000" y="26657999"/>
            <a:ext cx="6750000" cy="1872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31750">
            <a:solidFill>
              <a:srgbClr val="1565C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624000" y="26747999"/>
            <a:ext cx="6606000" cy="172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5600" b="1" i="0">
                <a:solidFill>
                  <a:srgbClr val="1565C0"/>
                </a:solidFill>
                <a:latin typeface="Arial"/>
                <a:ea typeface="Arial"/>
                <a:cs typeface="Arial"/>
              </a:rPr>
              <a:t>80 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3DGS Corridor Digital Twin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2590000" y="26657999"/>
            <a:ext cx="6750000" cy="1872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31750">
            <a:solidFill>
              <a:srgbClr val="1665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662000" y="26747999"/>
            <a:ext cx="6606000" cy="172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5600" b="1" i="0">
                <a:solidFill>
                  <a:srgbClr val="166534"/>
                </a:solidFill>
                <a:latin typeface="Arial"/>
                <a:ea typeface="Arial"/>
                <a:cs typeface="Arial"/>
              </a:rPr>
              <a:t>0.4 m/s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Walking Speed w/ Loop Closure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5552000" y="28673999"/>
            <a:ext cx="6750000" cy="1872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31750">
            <a:solidFill>
              <a:srgbClr val="0B25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624000" y="28763999"/>
            <a:ext cx="6606000" cy="172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5600" b="1" i="0">
                <a:solidFill>
                  <a:srgbClr val="0B2545"/>
                </a:solidFill>
                <a:latin typeface="Arial"/>
                <a:ea typeface="Arial"/>
                <a:cs typeface="Arial"/>
              </a:rPr>
              <a:t>1 RGB-D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Single D435i Camera (Zero LiDAR)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590000" y="28673999"/>
            <a:ext cx="6750000" cy="1872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31750">
            <a:solidFill>
              <a:srgbClr val="F59E0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662000" y="28763999"/>
            <a:ext cx="6606000" cy="172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5600" b="1" i="0">
                <a:solidFill>
                  <a:srgbClr val="F59E0B"/>
                </a:solidFill>
                <a:latin typeface="Arial"/>
                <a:ea typeface="Arial"/>
                <a:cs typeface="Arial"/>
              </a:rPr>
              <a:t>0 Recalib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Zero-Code Sim-to-Real Transfer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552000" y="30761999"/>
            <a:ext cx="13787999" cy="295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Clr>
                <a:srgbClr val="166534"/>
              </a:buClr>
              <a:buSzPct val="85000"/>
              <a:buFont typeface="Arial"/>
              <a:buChar char="■"/>
            </a:pPr>
            <a:r>
              <a:rPr sz="25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Direct Parameter Migration:</a:t>
            </a:r>
            <a:r>
              <a:rPr sz="25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Parameters optimized under simulated camera bobbing transferred seamlessly across ROS distributions (Jazzy on sim → Foxy on robot) without physical retuning.</a:t>
            </a:r>
          </a:p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ct val="85000"/>
              <a:buFont typeface="Arial"/>
              <a:buChar char="■"/>
            </a:pPr>
            <a:r>
              <a:rPr sz="25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Robust Visual Mapping:</a:t>
            </a:r>
            <a:r>
              <a:rPr sz="25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RTAB-Map successfully extracted features and detected global loop closures throughout the 80 m corridor, eliminating phantom obstacles.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5336000" y="34199999"/>
            <a:ext cx="14220000" cy="5040000"/>
          </a:xfrm>
          <a:prstGeom prst="roundRect">
            <a:avLst>
              <a:gd name="adj" fmla="val 3500"/>
            </a:avLst>
          </a:prstGeom>
          <a:solidFill>
            <a:srgbClr val="F8FAFC"/>
          </a:solidFill>
          <a:ln w="31750">
            <a:solidFill>
              <a:srgbClr val="0B25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15336000" y="34199999"/>
            <a:ext cx="14220000" cy="720000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0B2545"/>
          </a:solidFill>
          <a:ln>
            <a:noFill/>
          </a:ln>
        </p:spPr>
        <p:txBody>
          <a:bodyPr rtlCol="0" anchor="ctr" wrap="none" lIns="288000" rIns="28800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6. Conclusion &amp; Future Outlook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552000" y="35135999"/>
            <a:ext cx="13787999" cy="388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buClr>
                <a:srgbClr val="0B2545"/>
              </a:buClr>
              <a:buSzPct val="85000"/>
              <a:buFont typeface="Arial"/>
              <a:buChar char="■"/>
            </a:pPr>
            <a:r>
              <a:rPr sz="25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Practical Virtual Sandbox:</a:t>
            </a:r>
            <a:r>
              <a:rPr sz="25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Demonstrates that pairing a photorealistic 3DGS digital twin with RL-generated gait dynamics provides an effective, risk-free testbed for visual quadruped navigation.</a:t>
            </a:r>
          </a:p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buClr>
                <a:srgbClr val="0B2545"/>
              </a:buClr>
              <a:buSzPct val="85000"/>
              <a:buFont typeface="Arial"/>
              <a:buChar char="■"/>
            </a:pPr>
            <a:r>
              <a:rPr sz="25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Decoupled Edge Efficiency:</a:t>
            </a:r>
            <a:r>
              <a:rPr sz="25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Separating simulation-based parameter discovery from onboard execution enables lightweight real-world deployment on resource-constrained Jetson platforms.</a:t>
            </a:r>
          </a:p>
          <a:p>
            <a:pPr algn="l" marL="288000" indent="-288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B2545"/>
              </a:buClr>
              <a:buSzPct val="85000"/>
              <a:buFont typeface="Arial"/>
              <a:buChar char="■"/>
            </a:pPr>
            <a:r>
              <a:rPr sz="2500" b="1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Future Research:</a:t>
            </a:r>
            <a:r>
              <a:rPr sz="2500" b="0" i="0">
                <a:solidFill>
                  <a:srgbClr val="0F172A"/>
                </a:solidFill>
                <a:latin typeface="Arial"/>
                <a:ea typeface="Arial"/>
                <a:cs typeface="Arial"/>
              </a:rPr>
              <a:t> Expanding from static corridors to dynamic obstacle avoidance benchmarks, multi-floor terrain transitions, and direct neural policy deployment.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0000" y="39456000"/>
            <a:ext cx="28835999" cy="288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0000" y="39672000"/>
            <a:ext cx="26711999" cy="187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475569"/>
                </a:solidFill>
                <a:latin typeface="Arial"/>
                <a:ea typeface="Arial"/>
                <a:cs typeface="Arial"/>
              </a:rPr>
              <a:t>References:</a:t>
            </a:r>
            <a:r>
              <a:rPr sz="2200" b="0" i="0">
                <a:solidFill>
                  <a:srgbClr val="475569"/>
                </a:solidFill>
                <a:latin typeface="Arial"/>
                <a:ea typeface="Arial"/>
                <a:cs typeface="Arial"/>
              </a:rPr>
              <a:t>  [1] B. Kerbl et al., “3D Gaussian splatting for real-time radiance field rendering,” </a:t>
            </a:r>
            <a:r>
              <a:rPr sz="2200" b="0" i="1">
                <a:solidFill>
                  <a:srgbClr val="475569"/>
                </a:solidFill>
                <a:latin typeface="Arial"/>
                <a:ea typeface="Arial"/>
                <a:cs typeface="Arial"/>
              </a:rPr>
              <a:t>ACM TOG</a:t>
            </a:r>
            <a:r>
              <a:rPr sz="2200" b="0" i="0">
                <a:solidFill>
                  <a:srgbClr val="475569"/>
                </a:solidFill>
                <a:latin typeface="Arial"/>
                <a:ea typeface="Arial"/>
                <a:cs typeface="Arial"/>
              </a:rPr>
              <a:t>, 2023.  [2] M. Labbé &amp; F. Michaud, “RTAB-Map as an open-source lidar and visual SLAM library,” </a:t>
            </a:r>
            <a:r>
              <a:rPr sz="2200" b="0" i="1">
                <a:solidFill>
                  <a:srgbClr val="475569"/>
                </a:solidFill>
                <a:latin typeface="Arial"/>
                <a:ea typeface="Arial"/>
                <a:cs typeface="Arial"/>
              </a:rPr>
              <a:t>arXiv:2403.06341</a:t>
            </a:r>
            <a:r>
              <a:rPr sz="2200" b="0" i="0">
                <a:solidFill>
                  <a:srgbClr val="475569"/>
                </a:solidFill>
                <a:latin typeface="Arial"/>
                <a:ea typeface="Arial"/>
                <a:cs typeface="Arial"/>
              </a:rPr>
              <a:t>, 2024.  [3] S. Macenski et al., “Robot Operating System 2: Design and architecture,” </a:t>
            </a:r>
            <a:r>
              <a:rPr sz="2200" b="0" i="1">
                <a:solidFill>
                  <a:srgbClr val="475569"/>
                </a:solidFill>
                <a:latin typeface="Arial"/>
                <a:ea typeface="Arial"/>
                <a:cs typeface="Arial"/>
              </a:rPr>
              <a:t>Science Robotics</a:t>
            </a:r>
            <a:r>
              <a:rPr sz="2200" b="0" i="0">
                <a:solidFill>
                  <a:srgbClr val="475569"/>
                </a:solidFill>
                <a:latin typeface="Arial"/>
                <a:ea typeface="Arial"/>
                <a:cs typeface="Arial"/>
              </a:rPr>
              <a:t>, 2022.  [4] S. Zhu et al., “VR-Robo: Real-to-sim-to-real for visual robot navigation,” </a:t>
            </a:r>
            <a:r>
              <a:rPr sz="2200" b="0" i="1">
                <a:solidFill>
                  <a:srgbClr val="475569"/>
                </a:solidFill>
                <a:latin typeface="Arial"/>
                <a:ea typeface="Arial"/>
                <a:cs typeface="Arial"/>
              </a:rPr>
              <a:t>IEEE RA-L</a:t>
            </a:r>
            <a:r>
              <a:rPr sz="2200" b="0" i="0">
                <a:solidFill>
                  <a:srgbClr val="475569"/>
                </a:solidFill>
                <a:latin typeface="Arial"/>
                <a:ea typeface="Arial"/>
                <a:cs typeface="Arial"/>
              </a:rPr>
              <a:t>, 2025.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B2545"/>
                </a:solidFill>
                <a:latin typeface="Arial"/>
                <a:ea typeface="Arial"/>
                <a:cs typeface="Arial"/>
              </a:rPr>
              <a:t>Acknowledgement:</a:t>
            </a:r>
            <a:r>
              <a:rPr sz="2200" b="1" i="0">
                <a:solidFill>
                  <a:srgbClr val="0B2545"/>
                </a:solidFill>
                <a:latin typeface="Arial"/>
                <a:ea typeface="Arial"/>
                <a:cs typeface="Arial"/>
              </a:rPr>
              <a:t> This research was supported by the National Research Foundation of Korea (NRF) grant funded by the Korean government (MSIT) (No. RS-2025-24683458).</a:t>
            </a:r>
          </a:p>
        </p:txBody>
      </p:sp>
      <p:pic>
        <p:nvPicPr>
          <p:cNvPr id="54" name="Picture 53" descr="qr_rep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971999" y="39672000"/>
            <a:ext cx="1584000" cy="15840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7791999" y="41274000"/>
            <a:ext cx="1944000" cy="216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B2545"/>
                </a:solidFill>
                <a:latin typeface="Arial"/>
                <a:ea typeface="Arial"/>
                <a:cs typeface="Arial"/>
              </a:rPr>
              <a:t>GitHub Repo &amp; Code</a:t>
            </a:r>
          </a:p>
        </p:txBody>
      </p:sp>
    </p:spTree>
    <p:extLst>
      <p:ext uri="{BB962C8B-B14F-4D97-AF65-F5344CB8AC3E}">
        <p14:creationId xmlns:p14="http://schemas.microsoft.com/office/powerpoint/2010/main" val="11123174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</TotalTime>
  <Words>117</Words>
  <Application>Microsoft Office PowerPoint</Application>
  <PresentationFormat>사용자 지정</PresentationFormat>
  <Paragraphs>16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admin</dc:creator>
  <cp:lastModifiedBy>ICCAS ICROS</cp:lastModifiedBy>
  <cp:revision>14</cp:revision>
  <dcterms:created xsi:type="dcterms:W3CDTF">2020-09-22T08:31:15Z</dcterms:created>
  <dcterms:modified xsi:type="dcterms:W3CDTF">2026-01-06T07:13:13Z</dcterms:modified>
</cp:coreProperties>
</file>